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Índice dos assuntos com os números dos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_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· AXION Contract Intelligence — apresentação e tutorial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_ESCURO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· AXION Contract Intelligence — apresentação e tutorial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ACC" descr="Logo AC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— AXION Contract Intelligence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suíte e tutorial de uso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contratual de obras: documentos, alertas, providências e SSMA em campo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publicada em produção em 27/10/2026 (main 44571fe) · acc.axion.com.br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ACC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93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este material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41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 obra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072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ACC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906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obra e menu lateral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027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 cláusulas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68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versões e anexos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51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cláusulas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2801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 riscos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risco aprovados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19293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 intervalos de repetição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2128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e-mail de alerta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2496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e-mail por obra e destinatário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7797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e respostas parciais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063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e-mail no celular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3467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IA no alerta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6301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e revisão humana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1422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Providências e prazos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4507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providências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791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CNO, prazos individuais e histórico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12801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SSMA no celular (PWA)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SSMA no celular e instalação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19293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ocorrência ou inspeção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128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corretiva: andamento e conclusão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2496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internet e sem internet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27797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registros SSMA no ACC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3291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e ajuda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e permissões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39410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no ACC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44531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4818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verificado e o que falta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51023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cinco minutos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ACC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documentos, cláusulas, e-mails e eventos de cada obra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um só lugar, com caminho até a fonte original.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alertas por grau de risco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ações simples por e-mail e acompanhamento até a conclusão.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providências, prazos e CNO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início à entrega da obra.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o SSMA ao campo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aplicativo instalável no celular, com fila para uso sem sinal.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sugere, as pessoas decidem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toda análise indica evidências e exige revisão humana.</a:t>
            </a:r>
            <a:endParaRPr lang="en-US" sz="1700" dirty="0"/>
          </a:p>
        </p:txBody>
      </p:sp>
      <p:sp>
        <p:nvSpPr>
          <p:cNvPr id="4" name="Cartão"/>
          <p:cNvSpPr/>
          <p:nvPr/>
        </p:nvSpPr>
        <p:spPr>
          <a:xfrm>
            <a:off x="6766560" y="146304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F8EDED"/>
          </a:solidFill>
          <a:ln w="12700">
            <a:solidFill>
              <a:srgbClr val="F8EDED"/>
            </a:solidFill>
            <a:prstDash val="solid"/>
          </a:ln>
        </p:spPr>
      </p:sp>
      <p:pic>
        <p:nvPicPr>
          <p:cNvPr id="5" name="Ícone Documentos e cláusulas" descr="Documentos e cláusu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719072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0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 cláusulas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9281160" y="146304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F8EDED"/>
          </a:solidFill>
          <a:ln w="12700">
            <a:solidFill>
              <a:srgbClr val="F8EDED"/>
            </a:solidFill>
            <a:prstDash val="solid"/>
          </a:ln>
        </p:spPr>
      </p:sp>
      <p:pic>
        <p:nvPicPr>
          <p:cNvPr id="8" name="Ícone Alertas e ações" descr="Alertas e açõ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2" y="1719072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72600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 ações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6766560" y="361188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F8EDED"/>
          </a:solidFill>
          <a:ln w="12700">
            <a:solidFill>
              <a:srgbClr val="F8EDED"/>
            </a:solidFill>
            <a:prstDash val="solid"/>
          </a:ln>
        </p:spPr>
      </p:sp>
      <p:pic>
        <p:nvPicPr>
          <p:cNvPr id="11" name="Ícone Providências e CNO" descr="Providências e C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3867912"/>
            <a:ext cx="731520" cy="7315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58000" y="4754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Providências e CNO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9281160" y="361188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F8EDED"/>
          </a:solidFill>
          <a:ln w="12700">
            <a:solidFill>
              <a:srgbClr val="F8EDED"/>
            </a:solidFill>
            <a:prstDash val="solid"/>
          </a:ln>
        </p:spPr>
      </p:sp>
      <p:pic>
        <p:nvPicPr>
          <p:cNvPr id="14" name="Ícone SSMA no celular" descr="SSMA no celul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3867912"/>
            <a:ext cx="731520" cy="7315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72600" y="4754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SSMA no celular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este material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imagens usam o código publicado na main (44571fe) e dados fictícios ("Obra Exemplo ACC"). Nenhuma imagem mostra dados reais de contrato. Cada imagem informa sua procedência:</a:t>
            </a:r>
            <a:endParaRPr lang="en-US" sz="1600" dirty="0"/>
          </a:p>
        </p:txBody>
      </p:sp>
      <p:sp>
        <p:nvSpPr>
          <p:cNvPr id="4" name="Procedência"/>
          <p:cNvSpPr/>
          <p:nvPr/>
        </p:nvSpPr>
        <p:spPr>
          <a:xfrm>
            <a:off x="548640" y="2286000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286000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· dados fictícios · ambiente local — telas do ACC no navegador</a:t>
            </a:r>
            <a:endParaRPr lang="en-US" sz="1100" dirty="0"/>
          </a:p>
        </p:txBody>
      </p:sp>
      <p:sp>
        <p:nvSpPr>
          <p:cNvPr id="6" name="Procedência"/>
          <p:cNvSpPr/>
          <p:nvPr/>
        </p:nvSpPr>
        <p:spPr>
          <a:xfrm>
            <a:off x="548640" y="2743200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743200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real publicado · dados fictícios · renderizado no Chrome — e-mails de alerta</a:t>
            </a:r>
            <a:endParaRPr lang="en-US" sz="1100" dirty="0"/>
          </a:p>
        </p:txBody>
      </p:sp>
      <p:sp>
        <p:nvSpPr>
          <p:cNvPr id="8" name="Procedência"/>
          <p:cNvSpPr/>
          <p:nvPr/>
        </p:nvSpPr>
        <p:spPr>
          <a:xfrm>
            <a:off x="548640" y="3200400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200400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real · dados simulados · Chrome em 390 px — aplicativo SSMA no celular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foi verificado em ambiente real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dos e-mails em Gmail, Outlook e aplicativos de celular (só o HTML foi renderizado no Chrome).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Instalação, câmera e uso sem sinal do SSMA em iPhone e Android reais.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autenticadas na produção e consulta de IA com provedor real: nenhuma das duas foi exercitada.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numerados nas imagens correspondem à legenda ao lado de cada captura.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ACC</a:t>
            </a:r>
            <a:endParaRPr lang="en-US" sz="3000" dirty="0"/>
          </a:p>
        </p:txBody>
      </p:sp>
      <p:pic>
        <p:nvPicPr>
          <p:cNvPr id="3" name="Captura web-login.png" descr="Tela de login do AC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035040" cy="3771900"/>
          </a:xfrm>
          <a:prstGeom prst="rect">
            <a:avLst/>
          </a:prstGeom>
        </p:spPr>
      </p:pic>
      <p:sp>
        <p:nvSpPr>
          <p:cNvPr id="4" name="Borda web-login.png"/>
          <p:cNvSpPr/>
          <p:nvPr/>
        </p:nvSpPr>
        <p:spPr>
          <a:xfrm>
            <a:off x="548640" y="1280160"/>
            <a:ext cx="6035040" cy="377190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5299862" y="2651760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529986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5299862" y="3443859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5299862" y="34438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5299862" y="400964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5299862" y="4009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Legenda 1"/>
          <p:cNvSpPr/>
          <p:nvPr/>
        </p:nvSpPr>
        <p:spPr>
          <a:xfrm>
            <a:off x="6949440" y="14081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33488" y="1371600"/>
            <a:ext cx="42793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e nome —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AXION Controle de Contratos</a:t>
            </a:r>
            <a:endParaRPr lang="en-US" sz="1600" dirty="0"/>
          </a:p>
        </p:txBody>
      </p:sp>
      <p:sp>
        <p:nvSpPr>
          <p:cNvPr id="14" name="Legenda 2"/>
          <p:cNvSpPr/>
          <p:nvPr/>
        </p:nvSpPr>
        <p:spPr>
          <a:xfrm>
            <a:off x="6949440" y="22768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333488" y="2240280"/>
            <a:ext cx="42793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restrito —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usuários autorizados por projeto</a:t>
            </a:r>
            <a:endParaRPr lang="en-US" sz="1600" dirty="0"/>
          </a:p>
        </p:txBody>
      </p:sp>
      <p:sp>
        <p:nvSpPr>
          <p:cNvPr id="17" name="Legenda 3"/>
          <p:cNvSpPr/>
          <p:nvPr/>
        </p:nvSpPr>
        <p:spPr>
          <a:xfrm>
            <a:off x="6949440" y="31455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333488" y="3108960"/>
            <a:ext cx="42793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com Google —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exclusiva pela conta Google corporativa; não há senha própria do ACC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41148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a conta mas não participa de uma obra não vê essa obra.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de e-mail (alertas, ações, CONSULTAR IA) pedem login e depois levam à tela certa.</a:t>
            </a:r>
            <a:endParaRPr lang="en-US" sz="1500" dirty="0"/>
          </a:p>
        </p:txBody>
      </p:sp>
      <p:sp>
        <p:nvSpPr>
          <p:cNvPr id="21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obra e menu lateral</a:t>
            </a:r>
            <a:endParaRPr lang="en-US" sz="3000" dirty="0"/>
          </a:p>
        </p:txBody>
      </p:sp>
      <p:pic>
        <p:nvPicPr>
          <p:cNvPr id="3" name="Captura web-obras.png" descr="Seleção de proje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577840" cy="2685627"/>
          </a:xfrm>
          <a:prstGeom prst="rect">
            <a:avLst/>
          </a:prstGeom>
        </p:spPr>
      </p:pic>
      <p:sp>
        <p:nvSpPr>
          <p:cNvPr id="4" name="Borda web-obras.png"/>
          <p:cNvSpPr/>
          <p:nvPr/>
        </p:nvSpPr>
        <p:spPr>
          <a:xfrm>
            <a:off x="548640" y="1280160"/>
            <a:ext cx="5577840" cy="2685627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634594" y="210982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634594" y="21098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4204411" y="2128625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204411" y="21286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3981298" y="249655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3981298" y="24965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5431536" y="154584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5431536" y="15458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Legenda 1"/>
          <p:cNvSpPr/>
          <p:nvPr/>
        </p:nvSpPr>
        <p:spPr>
          <a:xfrm>
            <a:off x="548640" y="41970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4160520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obra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aparecem as obras de que a pessoa participa</a:t>
            </a:r>
            <a:endParaRPr lang="en-US" sz="1300" dirty="0"/>
          </a:p>
        </p:txBody>
      </p:sp>
      <p:sp>
        <p:nvSpPr>
          <p:cNvPr id="16" name="Legenda 2"/>
          <p:cNvSpPr/>
          <p:nvPr/>
        </p:nvSpPr>
        <p:spPr>
          <a:xfrm>
            <a:off x="548640" y="4617720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4581144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e demais situações da obra</a:t>
            </a:r>
            <a:endParaRPr lang="en-US" sz="1300" dirty="0"/>
          </a:p>
        </p:txBody>
      </p:sp>
      <p:sp>
        <p:nvSpPr>
          <p:cNvPr id="19" name="Legenda 3"/>
          <p:cNvSpPr/>
          <p:nvPr/>
        </p:nvSpPr>
        <p:spPr>
          <a:xfrm>
            <a:off x="548640" y="5038344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38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" y="5001768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projeto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datas e prazo baseline (perfis autorizados)</a:t>
            </a:r>
            <a:endParaRPr lang="en-US" sz="1300" dirty="0"/>
          </a:p>
        </p:txBody>
      </p:sp>
      <p:sp>
        <p:nvSpPr>
          <p:cNvPr id="22" name="Legenda 4"/>
          <p:cNvSpPr/>
          <p:nvPr/>
        </p:nvSpPr>
        <p:spPr>
          <a:xfrm>
            <a:off x="548640" y="5458968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458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" y="5422392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PROJETO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obra (perfil administrador)</a:t>
            </a:r>
            <a:endParaRPr lang="en-US" sz="1300" dirty="0"/>
          </a:p>
        </p:txBody>
      </p:sp>
      <p:pic>
        <p:nvPicPr>
          <p:cNvPr id="25" name="Captura web-menu.png" descr="Menu lateral da o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1680210" cy="4480560"/>
          </a:xfrm>
          <a:prstGeom prst="rect">
            <a:avLst/>
          </a:prstGeom>
        </p:spPr>
      </p:pic>
      <p:sp>
        <p:nvSpPr>
          <p:cNvPr id="26" name="Borda web-menu.png"/>
          <p:cNvSpPr/>
          <p:nvPr/>
        </p:nvSpPr>
        <p:spPr>
          <a:xfrm>
            <a:off x="6492240" y="1280160"/>
            <a:ext cx="1680210" cy="448056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27" name="Marcador 5"/>
          <p:cNvSpPr/>
          <p:nvPr/>
        </p:nvSpPr>
        <p:spPr>
          <a:xfrm>
            <a:off x="7917675" y="187781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Número 5"/>
          <p:cNvSpPr txBox="1"/>
          <p:nvPr/>
        </p:nvSpPr>
        <p:spPr>
          <a:xfrm>
            <a:off x="7917675" y="18778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Marcador 6"/>
          <p:cNvSpPr/>
          <p:nvPr/>
        </p:nvSpPr>
        <p:spPr>
          <a:xfrm>
            <a:off x="7917675" y="349529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Número 6"/>
          <p:cNvSpPr txBox="1"/>
          <p:nvPr/>
        </p:nvSpPr>
        <p:spPr>
          <a:xfrm>
            <a:off x="7917675" y="34952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Marcador 7"/>
          <p:cNvSpPr/>
          <p:nvPr/>
        </p:nvSpPr>
        <p:spPr>
          <a:xfrm>
            <a:off x="7917675" y="535472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Número 7"/>
          <p:cNvSpPr txBox="1"/>
          <p:nvPr/>
        </p:nvSpPr>
        <p:spPr>
          <a:xfrm>
            <a:off x="7917675" y="53547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Legenda 5"/>
          <p:cNvSpPr/>
          <p:nvPr/>
        </p:nvSpPr>
        <p:spPr>
          <a:xfrm>
            <a:off x="9144000" y="13624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14400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9528048" y="1325880"/>
            <a:ext cx="21305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da obra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Timeline, EVENTOS, Solicitações, Ações, Jurídico</a:t>
            </a:r>
            <a:endParaRPr lang="en-US" sz="1300" dirty="0"/>
          </a:p>
        </p:txBody>
      </p:sp>
      <p:sp>
        <p:nvSpPr>
          <p:cNvPr id="36" name="Legenda 6"/>
          <p:cNvSpPr/>
          <p:nvPr/>
        </p:nvSpPr>
        <p:spPr>
          <a:xfrm>
            <a:off x="9144000" y="25511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144000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9528048" y="2514600"/>
            <a:ext cx="21305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 Providências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ficam no mesmo menu</a:t>
            </a:r>
            <a:endParaRPr lang="en-US" sz="1300" dirty="0"/>
          </a:p>
        </p:txBody>
      </p:sp>
      <p:sp>
        <p:nvSpPr>
          <p:cNvPr id="39" name="Legenda 7"/>
          <p:cNvSpPr/>
          <p:nvPr/>
        </p:nvSpPr>
        <p:spPr>
          <a:xfrm>
            <a:off x="9144000" y="37398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14400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9528048" y="3703320"/>
            <a:ext cx="21305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permissões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restritos (Financeiro, Start-up ACC) só aparecem a quem tem acesso</a:t>
            </a:r>
            <a:endParaRPr lang="en-US" sz="1300" dirty="0"/>
          </a:p>
        </p:txBody>
      </p:sp>
      <p:sp>
        <p:nvSpPr>
          <p:cNvPr id="42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versões e anexos</a:t>
            </a:r>
            <a:endParaRPr lang="en-US" sz="3000" dirty="0"/>
          </a:p>
        </p:txBody>
      </p:sp>
      <p:pic>
        <p:nvPicPr>
          <p:cNvPr id="3" name="Captura web-documentos.png" descr="Tela de docum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09360" cy="4206240"/>
          </a:xfrm>
          <a:prstGeom prst="rect">
            <a:avLst/>
          </a:prstGeom>
        </p:spPr>
      </p:pic>
      <p:sp>
        <p:nvSpPr>
          <p:cNvPr id="4" name="Borda web-documentos.png"/>
          <p:cNvSpPr/>
          <p:nvPr/>
        </p:nvSpPr>
        <p:spPr>
          <a:xfrm>
            <a:off x="548640" y="1280160"/>
            <a:ext cx="6309360" cy="420624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4197096" y="130073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4197096" y="13007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4064599" y="2127260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064599" y="21272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6430609" y="275188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6430609" y="275188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525048" y="3509010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525048" y="35090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Marcador 5"/>
          <p:cNvSpPr/>
          <p:nvPr/>
        </p:nvSpPr>
        <p:spPr>
          <a:xfrm>
            <a:off x="2487259" y="366674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Número 5"/>
          <p:cNvSpPr txBox="1"/>
          <p:nvPr/>
        </p:nvSpPr>
        <p:spPr>
          <a:xfrm>
            <a:off x="2487259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Marcador 6"/>
          <p:cNvSpPr/>
          <p:nvPr/>
        </p:nvSpPr>
        <p:spPr>
          <a:xfrm>
            <a:off x="6484239" y="3561588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Número 6"/>
          <p:cNvSpPr txBox="1"/>
          <p:nvPr/>
        </p:nvSpPr>
        <p:spPr>
          <a:xfrm>
            <a:off x="6484239" y="35615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Marcador 7"/>
          <p:cNvSpPr/>
          <p:nvPr/>
        </p:nvSpPr>
        <p:spPr>
          <a:xfrm>
            <a:off x="2569281" y="494964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Número 7"/>
          <p:cNvSpPr txBox="1"/>
          <p:nvPr/>
        </p:nvSpPr>
        <p:spPr>
          <a:xfrm>
            <a:off x="2569281" y="49496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Legenda 1"/>
          <p:cNvSpPr/>
          <p:nvPr/>
        </p:nvSpPr>
        <p:spPr>
          <a:xfrm>
            <a:off x="7086600" y="13167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8660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470648" y="1280160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Cláusulas, Cronograma, Anexos de e-mail e Registro por e-mail; o ⓘ explica cada uma</a:t>
            </a:r>
            <a:endParaRPr lang="en-US" sz="1300" dirty="0"/>
          </a:p>
        </p:txBody>
      </p:sp>
      <p:sp>
        <p:nvSpPr>
          <p:cNvPr id="22" name="Legenda 2"/>
          <p:cNvSpPr/>
          <p:nvPr/>
        </p:nvSpPr>
        <p:spPr>
          <a:xfrm>
            <a:off x="7086600" y="19568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8660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470648" y="1920240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arquivos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vários arquivos de uma vez (máx. 50 MB por arquivo)</a:t>
            </a:r>
            <a:endParaRPr lang="en-US" sz="1300" dirty="0"/>
          </a:p>
        </p:txBody>
      </p:sp>
      <p:sp>
        <p:nvSpPr>
          <p:cNvPr id="25" name="Legenda 3"/>
          <p:cNvSpPr/>
          <p:nvPr/>
        </p:nvSpPr>
        <p:spPr>
          <a:xfrm>
            <a:off x="7086600" y="25968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8660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470648" y="2560320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individual (avançado)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escolher o tipo e a versão manualmente</a:t>
            </a:r>
            <a:endParaRPr lang="en-US" sz="1300" dirty="0"/>
          </a:p>
        </p:txBody>
      </p:sp>
      <p:sp>
        <p:nvSpPr>
          <p:cNvPr id="28" name="Legenda 4"/>
          <p:cNvSpPr/>
          <p:nvPr/>
        </p:nvSpPr>
        <p:spPr>
          <a:xfrm>
            <a:off x="7086600" y="32369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0866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470648" y="3200400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por documento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contrato-base e aditivos agrupados, cada um com suas versões</a:t>
            </a:r>
            <a:endParaRPr lang="en-US" sz="1300" dirty="0"/>
          </a:p>
        </p:txBody>
      </p:sp>
      <p:sp>
        <p:nvSpPr>
          <p:cNvPr id="31" name="Legenda 5"/>
          <p:cNvSpPr/>
          <p:nvPr/>
        </p:nvSpPr>
        <p:spPr>
          <a:xfrm>
            <a:off x="7086600" y="38770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08660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470648" y="3840480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cada versão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Processado, Aguardando processamento, Revisão humana necessária</a:t>
            </a:r>
            <a:endParaRPr lang="en-US" sz="1300" dirty="0"/>
          </a:p>
        </p:txBody>
      </p:sp>
      <p:sp>
        <p:nvSpPr>
          <p:cNvPr id="34" name="Legenda 6"/>
          <p:cNvSpPr/>
          <p:nvPr/>
        </p:nvSpPr>
        <p:spPr>
          <a:xfrm>
            <a:off x="7086600" y="45171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8660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470648" y="4480560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documento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vínculo de anexos ao contrato exige fundamento (mínimo 20 caracteres)</a:t>
            </a:r>
            <a:endParaRPr lang="en-US" sz="1300" dirty="0"/>
          </a:p>
        </p:txBody>
      </p:sp>
      <p:sp>
        <p:nvSpPr>
          <p:cNvPr id="37" name="Legenda 7"/>
          <p:cNvSpPr/>
          <p:nvPr/>
        </p:nvSpPr>
        <p:spPr>
          <a:xfrm>
            <a:off x="7086600" y="51572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086600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470648" y="5120640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nova versão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uma nova versão do mesmo documento</a:t>
            </a:r>
            <a:endParaRPr lang="en-US" sz="1300" dirty="0"/>
          </a:p>
        </p:txBody>
      </p:sp>
      <p:sp>
        <p:nvSpPr>
          <p:cNvPr id="40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cláusulas</a:t>
            </a:r>
            <a:endParaRPr lang="en-US" sz="3000" dirty="0"/>
          </a:p>
        </p:txBody>
      </p:sp>
      <p:pic>
        <p:nvPicPr>
          <p:cNvPr id="3" name="Captura web-clausulas-lista.png" descr="Revisão de cláusulas, li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826557" cy="2468880"/>
          </a:xfrm>
          <a:prstGeom prst="rect">
            <a:avLst/>
          </a:prstGeom>
        </p:spPr>
      </p:pic>
      <p:sp>
        <p:nvSpPr>
          <p:cNvPr id="4" name="Borda web-clausulas-lista.png"/>
          <p:cNvSpPr/>
          <p:nvPr/>
        </p:nvSpPr>
        <p:spPr>
          <a:xfrm>
            <a:off x="548640" y="1280160"/>
            <a:ext cx="5826557" cy="246888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6109853" y="1241755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6109853" y="12417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5987495" y="163677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5987495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533838" y="2969971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533838" y="29699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3301452" y="219227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3301452" y="21922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13" name="Captura web-clausulas-detalhe.png" descr="Revisão de cláusulas, candida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80160"/>
            <a:ext cx="2377440" cy="4500713"/>
          </a:xfrm>
          <a:prstGeom prst="rect">
            <a:avLst/>
          </a:prstGeom>
        </p:spPr>
      </p:pic>
      <p:sp>
        <p:nvSpPr>
          <p:cNvPr id="14" name="Borda web-clausulas-detalhe.png"/>
          <p:cNvSpPr/>
          <p:nvPr/>
        </p:nvSpPr>
        <p:spPr>
          <a:xfrm>
            <a:off x="6720840" y="1280160"/>
            <a:ext cx="2377440" cy="4500713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15" name="Marcador 5"/>
          <p:cNvSpPr/>
          <p:nvPr/>
        </p:nvSpPr>
        <p:spPr>
          <a:xfrm>
            <a:off x="8818474" y="181810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Número 5"/>
          <p:cNvSpPr txBox="1"/>
          <p:nvPr/>
        </p:nvSpPr>
        <p:spPr>
          <a:xfrm>
            <a:off x="8818474" y="18181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Marcador 6"/>
          <p:cNvSpPr/>
          <p:nvPr/>
        </p:nvSpPr>
        <p:spPr>
          <a:xfrm>
            <a:off x="8818474" y="3168321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Número 6"/>
          <p:cNvSpPr txBox="1"/>
          <p:nvPr/>
        </p:nvSpPr>
        <p:spPr>
          <a:xfrm>
            <a:off x="8818474" y="31683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Marcador 7"/>
          <p:cNvSpPr/>
          <p:nvPr/>
        </p:nvSpPr>
        <p:spPr>
          <a:xfrm>
            <a:off x="8818474" y="463105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Número 7"/>
          <p:cNvSpPr txBox="1"/>
          <p:nvPr/>
        </p:nvSpPr>
        <p:spPr>
          <a:xfrm>
            <a:off x="8818474" y="46310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Marcador 8"/>
          <p:cNvSpPr/>
          <p:nvPr/>
        </p:nvSpPr>
        <p:spPr>
          <a:xfrm>
            <a:off x="8818474" y="550869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Número 8"/>
          <p:cNvSpPr txBox="1"/>
          <p:nvPr/>
        </p:nvSpPr>
        <p:spPr>
          <a:xfrm>
            <a:off x="8818474" y="55086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Legenda 1"/>
          <p:cNvSpPr/>
          <p:nvPr/>
        </p:nvSpPr>
        <p:spPr>
          <a:xfrm>
            <a:off x="548640" y="39227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32688" y="3886200"/>
            <a:ext cx="5468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governança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detecção só sugere; a cláusula definitiva exige aprovação humana</a:t>
            </a:r>
            <a:endParaRPr lang="en-US" sz="1300" dirty="0"/>
          </a:p>
        </p:txBody>
      </p:sp>
      <p:sp>
        <p:nvSpPr>
          <p:cNvPr id="26" name="Legenda 2"/>
          <p:cNvSpPr/>
          <p:nvPr/>
        </p:nvSpPr>
        <p:spPr>
          <a:xfrm>
            <a:off x="548640" y="44256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932688" y="4389120"/>
            <a:ext cx="5468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Pendentes, Aprovados, Rejeitados e Total detectado</a:t>
            </a:r>
            <a:endParaRPr lang="en-US" sz="1300" dirty="0"/>
          </a:p>
        </p:txBody>
      </p:sp>
      <p:sp>
        <p:nvSpPr>
          <p:cNvPr id="29" name="Legenda 3"/>
          <p:cNvSpPr/>
          <p:nvPr/>
        </p:nvSpPr>
        <p:spPr>
          <a:xfrm>
            <a:off x="548640" y="49286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932688" y="4892040"/>
            <a:ext cx="5468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candidatos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número, título e página de cada trecho sugerido</a:t>
            </a:r>
            <a:endParaRPr lang="en-US" sz="1300" dirty="0"/>
          </a:p>
        </p:txBody>
      </p:sp>
      <p:sp>
        <p:nvSpPr>
          <p:cNvPr id="32" name="Legenda 4"/>
          <p:cNvSpPr/>
          <p:nvPr/>
        </p:nvSpPr>
        <p:spPr>
          <a:xfrm>
            <a:off x="548640" y="54315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932688" y="5394960"/>
            <a:ext cx="5468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parte, situação e "só os que exigem conferência"</a:t>
            </a:r>
            <a:endParaRPr lang="en-US" sz="1300" dirty="0"/>
          </a:p>
        </p:txBody>
      </p:sp>
      <p:sp>
        <p:nvSpPr>
          <p:cNvPr id="35" name="Legenda 5"/>
          <p:cNvSpPr/>
          <p:nvPr/>
        </p:nvSpPr>
        <p:spPr>
          <a:xfrm>
            <a:off x="9326880" y="13624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32688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9710928" y="1325880"/>
            <a:ext cx="19476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de origem —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da detecção e link para a página original</a:t>
            </a:r>
            <a:endParaRPr lang="en-US" sz="1200" dirty="0"/>
          </a:p>
        </p:txBody>
      </p:sp>
      <p:sp>
        <p:nvSpPr>
          <p:cNvPr id="38" name="Legenda 6"/>
          <p:cNvSpPr/>
          <p:nvPr/>
        </p:nvSpPr>
        <p:spPr>
          <a:xfrm>
            <a:off x="9326880" y="25511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326880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9710928" y="2514600"/>
            <a:ext cx="19476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editável —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número, título e texto contratual podem ser corrigidos</a:t>
            </a:r>
            <a:endParaRPr lang="en-US" sz="1200" dirty="0"/>
          </a:p>
        </p:txBody>
      </p:sp>
      <p:sp>
        <p:nvSpPr>
          <p:cNvPr id="41" name="Legenda 7"/>
          <p:cNvSpPr/>
          <p:nvPr/>
        </p:nvSpPr>
        <p:spPr>
          <a:xfrm>
            <a:off x="9326880" y="37398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32688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9710928" y="3703320"/>
            <a:ext cx="19476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cláusula —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 de conferir com a página original</a:t>
            </a:r>
            <a:endParaRPr lang="en-US" sz="1200" dirty="0"/>
          </a:p>
        </p:txBody>
      </p:sp>
      <p:sp>
        <p:nvSpPr>
          <p:cNvPr id="44" name="Legenda 8"/>
          <p:cNvSpPr/>
          <p:nvPr/>
        </p:nvSpPr>
        <p:spPr>
          <a:xfrm>
            <a:off x="9326880" y="49286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326880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9710928" y="4892040"/>
            <a:ext cx="19476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Rejeitar candidato —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justificativa; as decisões vão para a auditoria</a:t>
            </a:r>
            <a:endParaRPr lang="en-US" sz="1200" dirty="0"/>
          </a:p>
        </p:txBody>
      </p:sp>
      <p:sp>
        <p:nvSpPr>
          <p:cNvPr id="47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aprovados para o grau de risco</a:t>
            </a:r>
            <a:endParaRPr lang="en-US" sz="3000" dirty="0"/>
          </a:p>
        </p:txBody>
      </p:sp>
      <p:sp>
        <p:nvSpPr>
          <p:cNvPr id="3" name="Cartão CRÍTICO"/>
          <p:cNvSpPr/>
          <p:nvPr/>
        </p:nvSpPr>
        <p:spPr>
          <a:xfrm>
            <a:off x="54864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CRÍTICO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iminente de descumprimento e penalização contratual, exigindo ação imediata.</a:t>
            </a:r>
            <a:endParaRPr lang="en-US" sz="1600" dirty="0"/>
          </a:p>
        </p:txBody>
      </p:sp>
      <p:sp>
        <p:nvSpPr>
          <p:cNvPr id="6" name="Cartão ALTO"/>
          <p:cNvSpPr/>
          <p:nvPr/>
        </p:nvSpPr>
        <p:spPr>
          <a:xfrm>
            <a:off x="333756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C700"/>
          </a:solidFill>
          <a:ln w="19050">
            <a:solidFill>
              <a:srgbClr val="FFC7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ALTO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945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iminente de descumprimento e penalização, mas ainda com tempo para mitigação.</a:t>
            </a:r>
            <a:endParaRPr lang="en-US" sz="1600" dirty="0"/>
          </a:p>
        </p:txBody>
      </p:sp>
      <p:sp>
        <p:nvSpPr>
          <p:cNvPr id="9" name="Cartão MÉDIO"/>
          <p:cNvSpPr/>
          <p:nvPr/>
        </p:nvSpPr>
        <p:spPr>
          <a:xfrm>
            <a:off x="612648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MÉDIO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945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com possível consequência a médio prazo.</a:t>
            </a:r>
            <a:endParaRPr lang="en-US" sz="1600" dirty="0"/>
          </a:p>
        </p:txBody>
      </p:sp>
      <p:sp>
        <p:nvSpPr>
          <p:cNvPr id="12" name="Cartão BAIXO"/>
          <p:cNvSpPr/>
          <p:nvPr/>
        </p:nvSpPr>
        <p:spPr>
          <a:xfrm>
            <a:off x="891540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BAIXO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1945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processual, de acompanhamento ou de organização.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número fixo de dias que separe crítico, alto e médio: esse limite não foi definido e o sistema não o inventa.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sugestão automática só indica um nível quando os dados permitem; senão informa os níveis possíveis e o que confirmar.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classificação exige revisão humana, com justificativa e histórico imutável (slide 16).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 intervalos de repetição</a:t>
            </a:r>
            <a:endParaRPr lang="en-US" sz="3000" dirty="0"/>
          </a:p>
        </p:txBody>
      </p:sp>
      <p:graphicFrame>
        <p:nvGraphicFramePr>
          <p:cNvPr id="11" name="Tabela de c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60320"/>
                <a:gridCol w="1645920"/>
                <a:gridCol w="2103120"/>
                <a:gridCol w="30175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Fundo do alerta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Repetição até a conclusão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Vermelho #CC0000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Invertido (branco)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1 dia (24 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Amarelo #FFC700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2 dias (48 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Branco, borda cinza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4 dias (96 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Branco, borda cinza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7 dias (168 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corridos (calendário), nunca dias úteis. O texto "Repete: a cada N dia(s) até a conclusão" aparece em cada alerta.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agendador do GitHub Actions não garante pontualidade: um lembrete pode atrasar algumas horas. Execuções atrasadas enviam um lembrete por alerta, sem acumular.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providência e de evento seguem a mesma política de repetição.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e-mail de alerta</a:t>
            </a:r>
            <a:endParaRPr lang="en-US" sz="3000" dirty="0"/>
          </a:p>
        </p:txBody>
      </p:sp>
      <p:pic>
        <p:nvPicPr>
          <p:cNvPr id="3" name="Captura email-crit-desktop.png" descr="E-mail de alerta crítico (exempl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160520" cy="4576572"/>
          </a:xfrm>
          <a:prstGeom prst="rect">
            <a:avLst/>
          </a:prstGeom>
        </p:spPr>
      </p:pic>
      <p:sp>
        <p:nvSpPr>
          <p:cNvPr id="4" name="Borda email-crit-desktop.png"/>
          <p:cNvSpPr/>
          <p:nvPr/>
        </p:nvSpPr>
        <p:spPr>
          <a:xfrm>
            <a:off x="548640" y="1234440"/>
            <a:ext cx="4160520" cy="4576572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688848" y="208193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688848" y="2081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716585" y="232232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716585" y="23223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716585" y="2756865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716585" y="27568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3300730" y="240553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3300730" y="24055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Marcador 5"/>
          <p:cNvSpPr/>
          <p:nvPr/>
        </p:nvSpPr>
        <p:spPr>
          <a:xfrm>
            <a:off x="3300730" y="2803093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Número 5"/>
          <p:cNvSpPr txBox="1"/>
          <p:nvPr/>
        </p:nvSpPr>
        <p:spPr>
          <a:xfrm>
            <a:off x="3300730" y="2803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Marcador 6"/>
          <p:cNvSpPr/>
          <p:nvPr/>
        </p:nvSpPr>
        <p:spPr>
          <a:xfrm>
            <a:off x="688848" y="405587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Número 6"/>
          <p:cNvSpPr txBox="1"/>
          <p:nvPr/>
        </p:nvSpPr>
        <p:spPr>
          <a:xfrm>
            <a:off x="688848" y="4055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Marcador 7"/>
          <p:cNvSpPr/>
          <p:nvPr/>
        </p:nvSpPr>
        <p:spPr>
          <a:xfrm>
            <a:off x="688848" y="4874108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Número 7"/>
          <p:cNvSpPr txBox="1"/>
          <p:nvPr/>
        </p:nvSpPr>
        <p:spPr>
          <a:xfrm>
            <a:off x="688848" y="48741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Marcador 8"/>
          <p:cNvSpPr/>
          <p:nvPr/>
        </p:nvSpPr>
        <p:spPr>
          <a:xfrm>
            <a:off x="688848" y="5262423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Número 8"/>
          <p:cNvSpPr txBox="1"/>
          <p:nvPr/>
        </p:nvSpPr>
        <p:spPr>
          <a:xfrm>
            <a:off x="688848" y="52624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Marcador 9"/>
          <p:cNvSpPr/>
          <p:nvPr/>
        </p:nvSpPr>
        <p:spPr>
          <a:xfrm>
            <a:off x="3300730" y="541035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Número 9"/>
          <p:cNvSpPr txBox="1"/>
          <p:nvPr/>
        </p:nvSpPr>
        <p:spPr>
          <a:xfrm>
            <a:off x="3300730" y="5410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Legenda 1"/>
          <p:cNvSpPr/>
          <p:nvPr/>
        </p:nvSpPr>
        <p:spPr>
          <a:xfrm>
            <a:off x="5029200" y="13167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13248" y="128016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"RISCO [NÍVEL] | obra" em negrito, na cor do nível, com o logo ACC</a:t>
            </a:r>
            <a:endParaRPr lang="en-US" sz="1300" dirty="0"/>
          </a:p>
        </p:txBody>
      </p:sp>
      <p:sp>
        <p:nvSpPr>
          <p:cNvPr id="26" name="Legenda 2"/>
          <p:cNvSpPr/>
          <p:nvPr/>
        </p:nvSpPr>
        <p:spPr>
          <a:xfrm>
            <a:off x="5029200" y="18196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413248" y="178308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do alerta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que abre o evento no ACC</a:t>
            </a:r>
            <a:endParaRPr lang="en-US" sz="1300" dirty="0"/>
          </a:p>
        </p:txBody>
      </p:sp>
      <p:sp>
        <p:nvSpPr>
          <p:cNvPr id="29" name="Legenda 3"/>
          <p:cNvSpPr/>
          <p:nvPr/>
        </p:nvSpPr>
        <p:spPr>
          <a:xfrm>
            <a:off x="5029200" y="23225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13248" y="228600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impactada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número, título e trecho; sem vínculo aprovado aparece "Pendente de confirmação"</a:t>
            </a:r>
            <a:endParaRPr lang="en-US" sz="1300" dirty="0"/>
          </a:p>
        </p:txBody>
      </p:sp>
      <p:sp>
        <p:nvSpPr>
          <p:cNvPr id="32" name="Legenda 4"/>
          <p:cNvSpPr/>
          <p:nvPr/>
        </p:nvSpPr>
        <p:spPr>
          <a:xfrm>
            <a:off x="5029200" y="28254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920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413248" y="278892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IA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consulta ao especialista (exige login e vínculo com a obra)</a:t>
            </a:r>
            <a:endParaRPr lang="en-US" sz="1300" dirty="0"/>
          </a:p>
        </p:txBody>
      </p:sp>
      <p:sp>
        <p:nvSpPr>
          <p:cNvPr id="35" name="Legenda 5"/>
          <p:cNvSpPr/>
          <p:nvPr/>
        </p:nvSpPr>
        <p:spPr>
          <a:xfrm>
            <a:off x="5029200" y="33284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413248" y="329184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botões iguais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RESOLVIDO, EM ANDAMENTO e ENVIADO P/ (slide 13)</a:t>
            </a:r>
            <a:endParaRPr lang="en-US" sz="1300" dirty="0"/>
          </a:p>
        </p:txBody>
      </p:sp>
      <p:sp>
        <p:nvSpPr>
          <p:cNvPr id="38" name="Legenda 6"/>
          <p:cNvSpPr/>
          <p:nvPr/>
        </p:nvSpPr>
        <p:spPr>
          <a:xfrm>
            <a:off x="5029200" y="38313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9200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413248" y="379476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contratual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evento mostra × o que o contrato estabelece, com aprovação humana</a:t>
            </a:r>
            <a:endParaRPr lang="en-US" sz="1300" dirty="0"/>
          </a:p>
        </p:txBody>
      </p:sp>
      <p:sp>
        <p:nvSpPr>
          <p:cNvPr id="41" name="Legenda 7"/>
          <p:cNvSpPr/>
          <p:nvPr/>
        </p:nvSpPr>
        <p:spPr>
          <a:xfrm>
            <a:off x="5029200" y="43342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029200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413248" y="429768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verificáveis para e-mails e documentos de origem</a:t>
            </a:r>
            <a:endParaRPr lang="en-US" sz="1300" dirty="0"/>
          </a:p>
        </p:txBody>
      </p:sp>
      <p:sp>
        <p:nvSpPr>
          <p:cNvPr id="44" name="Legenda 8"/>
          <p:cNvSpPr/>
          <p:nvPr/>
        </p:nvSpPr>
        <p:spPr>
          <a:xfrm>
            <a:off x="5029200" y="48371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029200" y="4837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5413248" y="480060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"Repete: a cada 1 dia até a conclusão" (crítico)</a:t>
            </a:r>
            <a:endParaRPr lang="en-US" sz="1300" dirty="0"/>
          </a:p>
        </p:txBody>
      </p:sp>
      <p:sp>
        <p:nvSpPr>
          <p:cNvPr id="47" name="Legenda 9"/>
          <p:cNvSpPr/>
          <p:nvPr/>
        </p:nvSpPr>
        <p:spPr>
          <a:xfrm>
            <a:off x="5029200" y="53400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029200" y="5340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413248" y="5303520"/>
            <a:ext cx="6245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ações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ciência, assumir responsabilidade, definir prazo, responder ao ACC</a:t>
            </a:r>
            <a:endParaRPr lang="en-US" sz="1300" dirty="0"/>
          </a:p>
        </p:txBody>
      </p:sp>
      <p:sp>
        <p:nvSpPr>
          <p:cNvPr id="50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real publicado · dados fictícios · renderizado no Chrome — não testado em Gmail/Outlook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e-mail por obra e destinatário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alertas de uma mesma obra chegam agrupados; obras diferentes nunca se misturam no mesmo e-mail.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com algum alerta crítico</a:t>
            </a:r>
            <a:endParaRPr lang="en-US" sz="1400" dirty="0"/>
          </a:p>
        </p:txBody>
      </p:sp>
      <p:sp>
        <p:nvSpPr>
          <p:cNvPr id="5" name="Assunto 1"/>
          <p:cNvSpPr/>
          <p:nvPr/>
        </p:nvSpPr>
        <p:spPr>
          <a:xfrm>
            <a:off x="548640" y="2139696"/>
            <a:ext cx="7315200" cy="420624"/>
          </a:xfrm>
          <a:prstGeom prst="roundRect">
            <a:avLst>
              <a:gd name="adj" fmla="val 13043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3969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[RISCO CRÍTICO] OBRA | 4 alertas | ACC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com alto (sem crítico)</a:t>
            </a:r>
            <a:endParaRPr lang="en-US" sz="1400" dirty="0"/>
          </a:p>
        </p:txBody>
      </p:sp>
      <p:sp>
        <p:nvSpPr>
          <p:cNvPr id="8" name="Assunto 2"/>
          <p:cNvSpPr/>
          <p:nvPr/>
        </p:nvSpPr>
        <p:spPr>
          <a:xfrm>
            <a:off x="548640" y="2916936"/>
            <a:ext cx="7315200" cy="420624"/>
          </a:xfrm>
          <a:prstGeom prst="roundRect">
            <a:avLst>
              <a:gd name="adj" fmla="val 13043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1693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[RISCO ALTO] OBRA | 2 alertas | ACC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só com médio e baixo</a:t>
            </a:r>
            <a:endParaRPr lang="en-US" sz="1400" dirty="0"/>
          </a:p>
        </p:txBody>
      </p:sp>
      <p:sp>
        <p:nvSpPr>
          <p:cNvPr id="11" name="Assunto 3"/>
          <p:cNvSpPr/>
          <p:nvPr/>
        </p:nvSpPr>
        <p:spPr>
          <a:xfrm>
            <a:off x="548640" y="3694176"/>
            <a:ext cx="7315200" cy="420624"/>
          </a:xfrm>
          <a:prstGeom prst="roundRect">
            <a:avLst>
              <a:gd name="adj" fmla="val 13043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69417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OBRA | 2 alertas | ACC   (singular: "1 alerta")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manual individual</a:t>
            </a:r>
            <a:endParaRPr lang="en-US" sz="1400" dirty="0"/>
          </a:p>
        </p:txBody>
      </p:sp>
      <p:sp>
        <p:nvSpPr>
          <p:cNvPr id="14" name="Assunto 4"/>
          <p:cNvSpPr/>
          <p:nvPr/>
        </p:nvSpPr>
        <p:spPr>
          <a:xfrm>
            <a:off x="548640" y="4471416"/>
            <a:ext cx="7315200" cy="420624"/>
          </a:xfrm>
          <a:prstGeom prst="roundRect">
            <a:avLst>
              <a:gd name="adj" fmla="val 13043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4714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[RISCO CRÍTICO] OBRA | ACC    ·    [RISCO ALTO] OBRA | ACC    ·    OBRA | ACC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do assunto é o maior do lote; médio e baixo não levam marcação.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modo piloto, o assunto recebe o prefixo [TESTE CONTROLADO] e o destino é sempre crm@axion.com.br (regra do código).</a:t>
            </a:r>
            <a:endParaRPr lang="en-US" sz="1300" dirty="0"/>
          </a:p>
        </p:txBody>
      </p:sp>
      <p:pic>
        <p:nvPicPr>
          <p:cNvPr id="17" name="Captura email-lote4.png" descr="Lote com quatro riscos (exempl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234440"/>
            <a:ext cx="2606040" cy="4517136"/>
          </a:xfrm>
          <a:prstGeom prst="rect">
            <a:avLst/>
          </a:prstGeom>
        </p:spPr>
      </p:pic>
      <p:sp>
        <p:nvSpPr>
          <p:cNvPr id="18" name="Borda email-lote4.png"/>
          <p:cNvSpPr/>
          <p:nvPr/>
        </p:nvSpPr>
        <p:spPr>
          <a:xfrm>
            <a:off x="8503920" y="1234440"/>
            <a:ext cx="2606040" cy="4517136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19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real publicado · dados fictícios · renderizado no Chrome — assunto em Gmail/Outlook não verificado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ao alerta e respostas parciais</a:t>
            </a:r>
            <a:endParaRPr lang="en-US" sz="3000" dirty="0"/>
          </a:p>
        </p:txBody>
      </p:sp>
      <p:sp>
        <p:nvSpPr>
          <p:cNvPr id="3" name="Botão RESOLVIDO"/>
          <p:cNvSpPr/>
          <p:nvPr/>
        </p:nvSpPr>
        <p:spPr>
          <a:xfrm>
            <a:off x="548640" y="12801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470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o alerta. Os lembretes futuros são interrompidos.</a:t>
            </a:r>
            <a:endParaRPr lang="en-US" sz="1400" dirty="0"/>
          </a:p>
        </p:txBody>
      </p:sp>
      <p:sp>
        <p:nvSpPr>
          <p:cNvPr id="6" name="Botão EM ANDAMENTO"/>
          <p:cNvSpPr/>
          <p:nvPr/>
        </p:nvSpPr>
        <p:spPr>
          <a:xfrm>
            <a:off x="4297680" y="12801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8470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alerta aberto; ele repete conforme o risco (crítico: a cada 1 dia).</a:t>
            </a:r>
            <a:endParaRPr lang="en-US" sz="1400" dirty="0"/>
          </a:p>
        </p:txBody>
      </p:sp>
      <p:sp>
        <p:nvSpPr>
          <p:cNvPr id="9" name="Botão ENVIADO P/"/>
          <p:cNvSpPr/>
          <p:nvPr/>
        </p:nvSpPr>
        <p:spPr>
          <a:xfrm>
            <a:off x="8046720" y="12801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P/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8470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 o alerta a outra pessoa da obra, que o recebe com a mesma repetição.</a:t>
            </a:r>
            <a:endParaRPr lang="en-US" sz="1400" dirty="0"/>
          </a:p>
        </p:txBody>
      </p:sp>
      <p:pic>
        <p:nvPicPr>
          <p:cNvPr id="12" name="Captura web-lote-acao.png" descr="Página de resposta do l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834640"/>
            <a:ext cx="3840480" cy="3025833"/>
          </a:xfrm>
          <a:prstGeom prst="rect">
            <a:avLst/>
          </a:prstGeom>
        </p:spPr>
      </p:pic>
      <p:sp>
        <p:nvSpPr>
          <p:cNvPr id="13" name="Borda web-lote-acao.png"/>
          <p:cNvSpPr/>
          <p:nvPr/>
        </p:nvSpPr>
        <p:spPr>
          <a:xfrm>
            <a:off x="7772400" y="2834640"/>
            <a:ext cx="3840480" cy="3025833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14" name="Marcador 1"/>
          <p:cNvSpPr/>
          <p:nvPr/>
        </p:nvSpPr>
        <p:spPr>
          <a:xfrm>
            <a:off x="10546324" y="2930469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Número 1"/>
          <p:cNvSpPr txBox="1"/>
          <p:nvPr/>
        </p:nvSpPr>
        <p:spPr>
          <a:xfrm>
            <a:off x="10546324" y="29304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Marcador 2"/>
          <p:cNvSpPr/>
          <p:nvPr/>
        </p:nvSpPr>
        <p:spPr>
          <a:xfrm>
            <a:off x="11322101" y="3838219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Número 2"/>
          <p:cNvSpPr txBox="1"/>
          <p:nvPr/>
        </p:nvSpPr>
        <p:spPr>
          <a:xfrm>
            <a:off x="11322101" y="38382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Marcador 3"/>
          <p:cNvSpPr/>
          <p:nvPr/>
        </p:nvSpPr>
        <p:spPr>
          <a:xfrm>
            <a:off x="10546324" y="4624935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Número 3"/>
          <p:cNvSpPr txBox="1"/>
          <p:nvPr/>
        </p:nvSpPr>
        <p:spPr>
          <a:xfrm>
            <a:off x="10546324" y="46249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Marcador 4"/>
          <p:cNvSpPr/>
          <p:nvPr/>
        </p:nvSpPr>
        <p:spPr>
          <a:xfrm>
            <a:off x="10776753" y="5214973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Número 4"/>
          <p:cNvSpPr txBox="1"/>
          <p:nvPr/>
        </p:nvSpPr>
        <p:spPr>
          <a:xfrm>
            <a:off x="10776753" y="52149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Legenda 1"/>
          <p:cNvSpPr/>
          <p:nvPr/>
        </p:nvSpPr>
        <p:spPr>
          <a:xfrm>
            <a:off x="548640" y="28712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" y="2834640"/>
            <a:ext cx="6565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por alerta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do lote recebe a sua ação</a:t>
            </a:r>
            <a:endParaRPr lang="en-US" sz="1400" dirty="0"/>
          </a:p>
        </p:txBody>
      </p:sp>
      <p:sp>
        <p:nvSpPr>
          <p:cNvPr id="25" name="Legenda 2"/>
          <p:cNvSpPr/>
          <p:nvPr/>
        </p:nvSpPr>
        <p:spPr>
          <a:xfrm>
            <a:off x="548640" y="3474720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32688" y="3438144"/>
            <a:ext cx="6565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salva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na hora: dá para responder só parte do lote e voltar depois</a:t>
            </a:r>
            <a:endParaRPr lang="en-US" sz="1400" dirty="0"/>
          </a:p>
        </p:txBody>
      </p:sp>
      <p:sp>
        <p:nvSpPr>
          <p:cNvPr id="28" name="Legenda 3"/>
          <p:cNvSpPr/>
          <p:nvPr/>
        </p:nvSpPr>
        <p:spPr>
          <a:xfrm>
            <a:off x="548640" y="4078224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32688" y="4041648"/>
            <a:ext cx="6565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para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ENVIADO P/, escolha a pessoa que receberá o alerta</a:t>
            </a:r>
            <a:endParaRPr lang="en-US" sz="1400" dirty="0"/>
          </a:p>
        </p:txBody>
      </p:sp>
      <p:sp>
        <p:nvSpPr>
          <p:cNvPr id="31" name="Legenda 4"/>
          <p:cNvSpPr/>
          <p:nvPr/>
        </p:nvSpPr>
        <p:spPr>
          <a:xfrm>
            <a:off x="548640" y="4681728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32688" y="4645152"/>
            <a:ext cx="6565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TUDO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habilita com todos os alertas respondidos; os pendentes ficam listados</a:t>
            </a:r>
            <a:endParaRPr lang="en-US" sz="1400" dirty="0"/>
          </a:p>
        </p:txBody>
      </p:sp>
      <p:sp>
        <p:nvSpPr>
          <p:cNvPr id="34" name="Nota"/>
          <p:cNvSpPr/>
          <p:nvPr/>
        </p:nvSpPr>
        <p:spPr>
          <a:xfrm>
            <a:off x="548640" y="5349240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" y="53492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link do e-mail não altera nada: a ação só vale depois de confirmada. RESOLVIDO em providência exige gestor, gerente ou administrador, com evidência ou justificativa.</a:t>
            </a:r>
            <a:endParaRPr lang="en-US" sz="1300" dirty="0"/>
          </a:p>
        </p:txBody>
      </p:sp>
      <p:sp>
        <p:nvSpPr>
          <p:cNvPr id="36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 — página aberta pelo link do e-mail; o e-mail em si não foi testado em cliente real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e-mail no celular</a:t>
            </a:r>
            <a:endParaRPr lang="en-US" sz="3000" dirty="0"/>
          </a:p>
        </p:txBody>
      </p:sp>
      <p:sp>
        <p:nvSpPr>
          <p:cNvPr id="3" name="Moldura email-lote-mobile.png"/>
          <p:cNvSpPr/>
          <p:nvPr/>
        </p:nvSpPr>
        <p:spPr>
          <a:xfrm>
            <a:off x="740664" y="1197864"/>
            <a:ext cx="2199401" cy="4599432"/>
          </a:xfrm>
          <a:prstGeom prst="roundRect">
            <a:avLst>
              <a:gd name="adj" fmla="val 498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4" name="Celular email-lote-mobile.png" descr="Alerta no celular, to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2034809" cy="443484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1703204" y="513435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1703204" y="51343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929977" y="4247388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929977" y="42473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oldura email-crit-mobile-low.png"/>
          <p:cNvSpPr/>
          <p:nvPr/>
        </p:nvSpPr>
        <p:spPr>
          <a:xfrm>
            <a:off x="3324113" y="1197864"/>
            <a:ext cx="2150341" cy="4599432"/>
          </a:xfrm>
          <a:prstGeom prst="roundRect">
            <a:avLst>
              <a:gd name="adj" fmla="val 5103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0" name="Celular email-crit-mobile-low.png" descr="Alerta no celular, açõ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409" y="1280160"/>
            <a:ext cx="1985749" cy="4434840"/>
          </a:xfrm>
          <a:prstGeom prst="rect">
            <a:avLst/>
          </a:prstGeom>
        </p:spPr>
      </p:pic>
      <p:sp>
        <p:nvSpPr>
          <p:cNvPr id="11" name="Marcador 1"/>
          <p:cNvSpPr/>
          <p:nvPr/>
        </p:nvSpPr>
        <p:spPr>
          <a:xfrm>
            <a:off x="4262124" y="4779569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1"/>
          <p:cNvSpPr txBox="1"/>
          <p:nvPr/>
        </p:nvSpPr>
        <p:spPr>
          <a:xfrm>
            <a:off x="4262124" y="47795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Legenda 1"/>
          <p:cNvSpPr/>
          <p:nvPr/>
        </p:nvSpPr>
        <p:spPr>
          <a:xfrm>
            <a:off x="6766560" y="14081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66560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150608" y="1371600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lado a lado —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 o CONSULTAR IA fica ao lado dos três botões; no computador ele fica acima</a:t>
            </a:r>
            <a:endParaRPr lang="en-US" sz="1500" dirty="0"/>
          </a:p>
        </p:txBody>
      </p:sp>
      <p:sp>
        <p:nvSpPr>
          <p:cNvPr id="16" name="Legenda 2"/>
          <p:cNvSpPr/>
          <p:nvPr/>
        </p:nvSpPr>
        <p:spPr>
          <a:xfrm>
            <a:off x="6766560" y="24140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66560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150608" y="2377440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com quebra de linha —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e risco continuam legíveis em telas estreitas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766560" y="3566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toque de 44 px para os botões.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cliente de e-mail ignorar o CSS do celular, o layout vertical continua legível.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Pendente: conferir Gmail, Outlook e Mail do iPhone reais (roteiro de testes reais).</a:t>
            </a:r>
            <a:endParaRPr lang="en-US" sz="1500" dirty="0"/>
          </a:p>
        </p:txBody>
      </p:sp>
      <p:sp>
        <p:nvSpPr>
          <p:cNvPr id="20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real publicado · dados fictícios · Chrome em 390 px — não testado em celulares reais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IA no alerta</a:t>
            </a:r>
            <a:endParaRPr lang="en-US" sz="3000" dirty="0"/>
          </a:p>
        </p:txBody>
      </p:sp>
      <p:pic>
        <p:nvPicPr>
          <p:cNvPr id="3" name="Captura web-consulta-ia.png" descr="Tela CONSULTAR 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4543124"/>
          </a:xfrm>
          <a:prstGeom prst="rect">
            <a:avLst/>
          </a:prstGeom>
        </p:spPr>
      </p:pic>
      <p:sp>
        <p:nvSpPr>
          <p:cNvPr id="4" name="Borda web-consulta-ia.png"/>
          <p:cNvSpPr/>
          <p:nvPr/>
        </p:nvSpPr>
        <p:spPr>
          <a:xfrm>
            <a:off x="548640" y="1280160"/>
            <a:ext cx="5394960" cy="4543124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5628406" y="2206091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5628406" y="22060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5428793" y="2873930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5428793" y="28739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5520507" y="366443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5520507" y="3664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1463497" y="415963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1463497" y="41596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Marcador 5"/>
          <p:cNvSpPr/>
          <p:nvPr/>
        </p:nvSpPr>
        <p:spPr>
          <a:xfrm>
            <a:off x="5628406" y="489107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Número 5"/>
          <p:cNvSpPr txBox="1"/>
          <p:nvPr/>
        </p:nvSpPr>
        <p:spPr>
          <a:xfrm>
            <a:off x="5628406" y="48910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Legenda 1"/>
          <p:cNvSpPr/>
          <p:nvPr/>
        </p:nvSpPr>
        <p:spPr>
          <a:xfrm>
            <a:off x="6263640" y="13167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647688" y="128016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origem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sempre parte de um alerta da sua obra</a:t>
            </a:r>
            <a:endParaRPr lang="en-US" sz="1300" dirty="0"/>
          </a:p>
        </p:txBody>
      </p:sp>
      <p:sp>
        <p:nvSpPr>
          <p:cNvPr id="18" name="Legenda 2"/>
          <p:cNvSpPr/>
          <p:nvPr/>
        </p:nvSpPr>
        <p:spPr>
          <a:xfrm>
            <a:off x="6263640" y="21396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364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647688" y="210312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pré-selecionado pela sua área; troque entre Contratual/Jurídico, Engenharia, Planejamento e Prazo, SSMA, Documentação e Entrega ou Geral</a:t>
            </a:r>
            <a:endParaRPr lang="en-US" sz="1300" dirty="0"/>
          </a:p>
        </p:txBody>
      </p:sp>
      <p:sp>
        <p:nvSpPr>
          <p:cNvPr id="21" name="Legenda 3"/>
          <p:cNvSpPr/>
          <p:nvPr/>
        </p:nvSpPr>
        <p:spPr>
          <a:xfrm>
            <a:off x="6263640" y="29626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6364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47688" y="292608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padrão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tratar ou mitigar esta situação de risco? Apresente opções práticas de acordo com sua especialidade." Pode ser editada</a:t>
            </a:r>
            <a:endParaRPr lang="en-US" sz="1300" dirty="0"/>
          </a:p>
        </p:txBody>
      </p:sp>
      <p:sp>
        <p:nvSpPr>
          <p:cNvPr id="24" name="Legenda 4"/>
          <p:cNvSpPr/>
          <p:nvPr/>
        </p:nvSpPr>
        <p:spPr>
          <a:xfrm>
            <a:off x="6263640" y="37856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6364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47688" y="374904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lê: não altera o alerta e não registra providência</a:t>
            </a:r>
            <a:endParaRPr lang="en-US" sz="1300" dirty="0"/>
          </a:p>
        </p:txBody>
      </p:sp>
      <p:sp>
        <p:nvSpPr>
          <p:cNvPr id="27" name="Legenda 5"/>
          <p:cNvSpPr/>
          <p:nvPr/>
        </p:nvSpPr>
        <p:spPr>
          <a:xfrm>
            <a:off x="6263640" y="46085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63640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647688" y="457200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teste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captura o provedor é simulado; a resposta real de IA ainda não foi testada</a:t>
            </a:r>
            <a:endParaRPr lang="en-US" sz="1300" dirty="0"/>
          </a:p>
        </p:txBody>
      </p:sp>
      <p:sp>
        <p:nvSpPr>
          <p:cNvPr id="30" name="Nota"/>
          <p:cNvSpPr/>
          <p:nvPr/>
        </p:nvSpPr>
        <p:spPr>
          <a:xfrm>
            <a:off x="6263640" y="53492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separa interpretação (sugestão, não fato), fatos documentados, base legal, riscos, recomendações e informações faltantes, com fontes consultáveis e revisão humana obrigatória.</a:t>
            </a:r>
            <a:endParaRPr lang="en-US" sz="1300" dirty="0"/>
          </a:p>
        </p:txBody>
      </p:sp>
      <p:sp>
        <p:nvSpPr>
          <p:cNvPr id="32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 · provedor de IA SIMULADO (nenhuma análise real de IA)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do risco com revisão humana</a:t>
            </a:r>
            <a:endParaRPr lang="en-US" sz="3000" dirty="0"/>
          </a:p>
        </p:txBody>
      </p:sp>
      <p:pic>
        <p:nvPicPr>
          <p:cNvPr id="3" name="Captura web-classificacao.png" descr="Classificação de ris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669280" cy="4470009"/>
          </a:xfrm>
          <a:prstGeom prst="rect">
            <a:avLst/>
          </a:prstGeom>
        </p:spPr>
      </p:pic>
      <p:sp>
        <p:nvSpPr>
          <p:cNvPr id="4" name="Borda web-classificacao.png"/>
          <p:cNvSpPr/>
          <p:nvPr/>
        </p:nvSpPr>
        <p:spPr>
          <a:xfrm>
            <a:off x="548640" y="1280160"/>
            <a:ext cx="5669280" cy="4470009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5939028" y="1464841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5939028" y="14648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5939028" y="1688341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5939028" y="16883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5939028" y="234096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5939028" y="23409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5939028" y="3485285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5939028" y="34852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Marcador 5"/>
          <p:cNvSpPr/>
          <p:nvPr/>
        </p:nvSpPr>
        <p:spPr>
          <a:xfrm>
            <a:off x="5939028" y="413790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Número 5"/>
          <p:cNvSpPr txBox="1"/>
          <p:nvPr/>
        </p:nvSpPr>
        <p:spPr>
          <a:xfrm>
            <a:off x="5939028" y="41379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Marcador 6"/>
          <p:cNvSpPr/>
          <p:nvPr/>
        </p:nvSpPr>
        <p:spPr>
          <a:xfrm>
            <a:off x="5939028" y="4893338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Número 6"/>
          <p:cNvSpPr txBox="1"/>
          <p:nvPr/>
        </p:nvSpPr>
        <p:spPr>
          <a:xfrm>
            <a:off x="5939028" y="48933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Marcador 7"/>
          <p:cNvSpPr/>
          <p:nvPr/>
        </p:nvSpPr>
        <p:spPr>
          <a:xfrm>
            <a:off x="5939028" y="5344809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Número 7"/>
          <p:cNvSpPr txBox="1"/>
          <p:nvPr/>
        </p:nvSpPr>
        <p:spPr>
          <a:xfrm>
            <a:off x="5939028" y="53448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Legenda 1"/>
          <p:cNvSpPr/>
          <p:nvPr/>
        </p:nvSpPr>
        <p:spPr>
          <a:xfrm>
            <a:off x="6492240" y="13167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76288" y="1280160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atual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repetição (ex.: Alto, a cada 2 dias); a classificação automática fica preservada</a:t>
            </a:r>
            <a:endParaRPr lang="en-US" sz="1300" dirty="0"/>
          </a:p>
        </p:txBody>
      </p:sp>
      <p:sp>
        <p:nvSpPr>
          <p:cNvPr id="22" name="Legenda 2"/>
          <p:cNvSpPr/>
          <p:nvPr/>
        </p:nvSpPr>
        <p:spPr>
          <a:xfrm>
            <a:off x="6492240" y="1975104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76288" y="1938528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critérios aprovados (slide 9)</a:t>
            </a:r>
            <a:endParaRPr lang="en-US" sz="1300" dirty="0"/>
          </a:p>
        </p:txBody>
      </p:sp>
      <p:sp>
        <p:nvSpPr>
          <p:cNvPr id="25" name="Legenda 3"/>
          <p:cNvSpPr/>
          <p:nvPr/>
        </p:nvSpPr>
        <p:spPr>
          <a:xfrm>
            <a:off x="6492240" y="2633472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9224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76288" y="2596896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apoio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natureza, prazo contratual, iminência e tempo para mitigação, declaradas por gestor, gerente ou administrador</a:t>
            </a:r>
            <a:endParaRPr lang="en-US" sz="1300" dirty="0"/>
          </a:p>
        </p:txBody>
      </p:sp>
      <p:sp>
        <p:nvSpPr>
          <p:cNvPr id="28" name="Legenda 4"/>
          <p:cNvSpPr/>
          <p:nvPr/>
        </p:nvSpPr>
        <p:spPr>
          <a:xfrm>
            <a:off x="6492240" y="3291840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922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876288" y="3255264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do sistema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Fato, Inferência e Recomendação; se faltar dado, mostra os níveis possíveis e o que confirmar</a:t>
            </a:r>
            <a:endParaRPr lang="en-US" sz="1300" dirty="0"/>
          </a:p>
        </p:txBody>
      </p:sp>
      <p:sp>
        <p:nvSpPr>
          <p:cNvPr id="31" name="Legenda 5"/>
          <p:cNvSpPr/>
          <p:nvPr/>
        </p:nvSpPr>
        <p:spPr>
          <a:xfrm>
            <a:off x="6492240" y="3950208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9224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876288" y="3913632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Grau, referência e justificativa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justificativa é obrigatória</a:t>
            </a:r>
            <a:endParaRPr lang="en-US" sz="1300" dirty="0"/>
          </a:p>
        </p:txBody>
      </p:sp>
      <p:sp>
        <p:nvSpPr>
          <p:cNvPr id="34" name="Legenda 6"/>
          <p:cNvSpPr/>
          <p:nvPr/>
        </p:nvSpPr>
        <p:spPr>
          <a:xfrm>
            <a:off x="6492240" y="46085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92240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876288" y="4572000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classificação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a revisão com autor e data</a:t>
            </a:r>
            <a:endParaRPr lang="en-US" sz="1300" dirty="0"/>
          </a:p>
        </p:txBody>
      </p:sp>
      <p:sp>
        <p:nvSpPr>
          <p:cNvPr id="37" name="Legenda 7"/>
          <p:cNvSpPr/>
          <p:nvPr/>
        </p:nvSpPr>
        <p:spPr>
          <a:xfrm>
            <a:off x="6492240" y="5266944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92240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876288" y="5230368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imutável: quem mudou, de que grau para qual e por quê</a:t>
            </a:r>
            <a:endParaRPr lang="en-US" sz="1300" dirty="0"/>
          </a:p>
        </p:txBody>
      </p:sp>
      <p:sp>
        <p:nvSpPr>
          <p:cNvPr id="40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providências</a:t>
            </a:r>
            <a:endParaRPr lang="en-US" sz="3000" dirty="0"/>
          </a:p>
        </p:txBody>
      </p:sp>
      <p:pic>
        <p:nvPicPr>
          <p:cNvPr id="3" name="Captura web-providencias.png" descr="Tabela de providênc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126480" cy="3216402"/>
          </a:xfrm>
          <a:prstGeom prst="rect">
            <a:avLst/>
          </a:prstGeom>
        </p:spPr>
      </p:pic>
      <p:sp>
        <p:nvSpPr>
          <p:cNvPr id="4" name="Borda web-providencias.png"/>
          <p:cNvSpPr/>
          <p:nvPr/>
        </p:nvSpPr>
        <p:spPr>
          <a:xfrm>
            <a:off x="548640" y="1280160"/>
            <a:ext cx="6126480" cy="3216402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613654" y="142282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613654" y="14228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552389" y="174446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552389" y="17444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552389" y="189242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552389" y="18924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1410096" y="257108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1410096" y="25710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Marcador 5"/>
          <p:cNvSpPr/>
          <p:nvPr/>
        </p:nvSpPr>
        <p:spPr>
          <a:xfrm>
            <a:off x="3857625" y="3133953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Número 5"/>
          <p:cNvSpPr txBox="1"/>
          <p:nvPr/>
        </p:nvSpPr>
        <p:spPr>
          <a:xfrm>
            <a:off x="3857625" y="31339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Marcador 6"/>
          <p:cNvSpPr/>
          <p:nvPr/>
        </p:nvSpPr>
        <p:spPr>
          <a:xfrm>
            <a:off x="5772150" y="310822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Número 6"/>
          <p:cNvSpPr txBox="1"/>
          <p:nvPr/>
        </p:nvSpPr>
        <p:spPr>
          <a:xfrm>
            <a:off x="5772150" y="31082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Marcador 7"/>
          <p:cNvSpPr/>
          <p:nvPr/>
        </p:nvSpPr>
        <p:spPr>
          <a:xfrm>
            <a:off x="5796656" y="2378098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Número 7"/>
          <p:cNvSpPr txBox="1"/>
          <p:nvPr/>
        </p:nvSpPr>
        <p:spPr>
          <a:xfrm>
            <a:off x="5796656" y="23780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Legenda 1"/>
          <p:cNvSpPr/>
          <p:nvPr/>
        </p:nvSpPr>
        <p:spPr>
          <a:xfrm>
            <a:off x="6903720" y="13167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287768" y="1280160"/>
            <a:ext cx="4370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providência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com grau MÉDIO provisório, nunca crítico por padrão</a:t>
            </a:r>
            <a:endParaRPr lang="en-US" sz="1300" dirty="0"/>
          </a:p>
        </p:txBody>
      </p:sp>
      <p:sp>
        <p:nvSpPr>
          <p:cNvPr id="22" name="Legenda 2"/>
          <p:cNvSpPr/>
          <p:nvPr/>
        </p:nvSpPr>
        <p:spPr>
          <a:xfrm>
            <a:off x="6903720" y="1975104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0372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287768" y="1938528"/>
            <a:ext cx="4370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previsto e D−60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alertas de entrega começam 60 dias corridos antes (ou no prazo individual, se vencer antes)</a:t>
            </a:r>
            <a:endParaRPr lang="en-US" sz="1300" dirty="0"/>
          </a:p>
        </p:txBody>
      </p:sp>
      <p:sp>
        <p:nvSpPr>
          <p:cNvPr id="25" name="Legenda 3"/>
          <p:cNvSpPr/>
          <p:nvPr/>
        </p:nvSpPr>
        <p:spPr>
          <a:xfrm>
            <a:off x="6903720" y="2633472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0372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287768" y="2596896"/>
            <a:ext cx="4370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referência = início das atividades + 30 dias; "estimado" enquanto o início não é confirmado</a:t>
            </a:r>
            <a:endParaRPr lang="en-US" sz="1300" dirty="0"/>
          </a:p>
        </p:txBody>
      </p:sp>
      <p:sp>
        <p:nvSpPr>
          <p:cNvPr id="28" name="Legenda 4"/>
          <p:cNvSpPr/>
          <p:nvPr/>
        </p:nvSpPr>
        <p:spPr>
          <a:xfrm>
            <a:off x="6903720" y="3291840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037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287768" y="3255264"/>
            <a:ext cx="4370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Selos de pendência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responsável, Sem prazo, Aplicabilidade a confirmar, Risco a definir</a:t>
            </a:r>
            <a:endParaRPr lang="en-US" sz="1300" dirty="0"/>
          </a:p>
        </p:txBody>
      </p:sp>
      <p:sp>
        <p:nvSpPr>
          <p:cNvPr id="31" name="Legenda 5"/>
          <p:cNvSpPr/>
          <p:nvPr/>
        </p:nvSpPr>
        <p:spPr>
          <a:xfrm>
            <a:off x="6903720" y="3950208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90372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287768" y="3913632"/>
            <a:ext cx="4370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risco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repetição (ex.: BAIXO, a cada 7 dias)</a:t>
            </a:r>
            <a:endParaRPr lang="en-US" sz="1300" dirty="0"/>
          </a:p>
        </p:txBody>
      </p:sp>
      <p:sp>
        <p:nvSpPr>
          <p:cNvPr id="34" name="Legenda 6"/>
          <p:cNvSpPr/>
          <p:nvPr/>
        </p:nvSpPr>
        <p:spPr>
          <a:xfrm>
            <a:off x="6903720" y="46085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903720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287768" y="4572000"/>
            <a:ext cx="4370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em que os alertas começam</a:t>
            </a:r>
            <a:endParaRPr lang="en-US" sz="1300" dirty="0"/>
          </a:p>
        </p:txBody>
      </p:sp>
      <p:sp>
        <p:nvSpPr>
          <p:cNvPr id="37" name="Legenda 7"/>
          <p:cNvSpPr/>
          <p:nvPr/>
        </p:nvSpPr>
        <p:spPr>
          <a:xfrm>
            <a:off x="6903720" y="5266944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03720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287768" y="5230368"/>
            <a:ext cx="4370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responsável, prazo, situação, evidência e classificação</a:t>
            </a:r>
            <a:endParaRPr lang="en-US" sz="1300" dirty="0"/>
          </a:p>
        </p:txBody>
      </p:sp>
      <p:sp>
        <p:nvSpPr>
          <p:cNvPr id="40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CNO, prazos individuais e histórico</a:t>
            </a:r>
            <a:endParaRPr lang="en-US" sz="3000" dirty="0"/>
          </a:p>
        </p:txBody>
      </p:sp>
      <p:pic>
        <p:nvPicPr>
          <p:cNvPr id="3" name="Captura web-cno.png" descr="Linhas de providências: energia e C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64240" cy="2074545"/>
          </a:xfrm>
          <a:prstGeom prst="rect">
            <a:avLst/>
          </a:prstGeom>
        </p:spPr>
      </p:pic>
      <p:sp>
        <p:nvSpPr>
          <p:cNvPr id="4" name="Borda web-cno.png"/>
          <p:cNvSpPr/>
          <p:nvPr/>
        </p:nvSpPr>
        <p:spPr>
          <a:xfrm>
            <a:off x="548640" y="1280160"/>
            <a:ext cx="11064240" cy="2074545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544251" y="176536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544251" y="17653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8045806" y="176536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8045806" y="17653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8764981" y="2761145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8764981" y="27611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Legenda 1"/>
          <p:cNvSpPr/>
          <p:nvPr/>
        </p:nvSpPr>
        <p:spPr>
          <a:xfrm>
            <a:off x="548640" y="36027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3566160"/>
            <a:ext cx="5285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a entrega / Depende de concessionária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selos que explicam por que a providência é crítica para a entrega</a:t>
            </a:r>
            <a:endParaRPr lang="en-US" sz="1300" dirty="0"/>
          </a:p>
        </p:txBody>
      </p:sp>
      <p:sp>
        <p:nvSpPr>
          <p:cNvPr id="14" name="Legenda 2"/>
          <p:cNvSpPr/>
          <p:nvPr/>
        </p:nvSpPr>
        <p:spPr>
          <a:xfrm>
            <a:off x="548640" y="44256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4389120"/>
            <a:ext cx="5285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e repetição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repete a cada 1 dia; ALTO, a cada 2 dias</a:t>
            </a:r>
            <a:endParaRPr lang="en-US" sz="1300" dirty="0"/>
          </a:p>
        </p:txBody>
      </p:sp>
      <p:sp>
        <p:nvSpPr>
          <p:cNvPr id="17" name="Legenda 3"/>
          <p:cNvSpPr/>
          <p:nvPr/>
        </p:nvSpPr>
        <p:spPr>
          <a:xfrm>
            <a:off x="548640" y="52486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248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5212080"/>
            <a:ext cx="5285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Providência de início (CNO)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acompanhada por prazo próprio, sem janela D−60; o número do CNO fica no campo de protocolo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3566160"/>
            <a:ext cx="5166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CNO: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legal de 30 dias contados do início das atividades (Receita Federal); o prazo continua configurável.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de início divergentes: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prazo legal não é calculado até a decisão; só um prazo interno informado vale.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do término previsto: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os marcos e grava o histórico (quem, data antiga e nova).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exige evidência ou justificativa;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enviar um arquivo nunca conclui.</a:t>
            </a:r>
            <a:endParaRPr lang="en-US" sz="1400" dirty="0"/>
          </a:p>
        </p:txBody>
      </p:sp>
      <p:sp>
        <p:nvSpPr>
          <p:cNvPr id="21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SSMA no celular: o que é e como instalar</a:t>
            </a:r>
            <a:endParaRPr lang="en-US" sz="3000" dirty="0"/>
          </a:p>
        </p:txBody>
      </p:sp>
      <p:sp>
        <p:nvSpPr>
          <p:cNvPr id="3" name="Moldura ssma-selecao.png"/>
          <p:cNvSpPr/>
          <p:nvPr/>
        </p:nvSpPr>
        <p:spPr>
          <a:xfrm>
            <a:off x="740664" y="1197864"/>
            <a:ext cx="2382012" cy="4599432"/>
          </a:xfrm>
          <a:prstGeom prst="roundRect">
            <a:avLst>
              <a:gd name="adj" fmla="val 460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4" name="Celular ssma-selecao.png" descr="Seleção de obra e instal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2217420" cy="443484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841019" y="2251710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841019" y="22517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2681478" y="3360420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2681478" y="33604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oldura ssma-instalar.png"/>
          <p:cNvSpPr/>
          <p:nvPr/>
        </p:nvSpPr>
        <p:spPr>
          <a:xfrm>
            <a:off x="3415284" y="1197864"/>
            <a:ext cx="2382012" cy="4599432"/>
          </a:xfrm>
          <a:prstGeom prst="roundRect">
            <a:avLst>
              <a:gd name="adj" fmla="val 460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0" name="Celular ssma-instalar.png" descr="QR Code e instruçõ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280160"/>
            <a:ext cx="2217420" cy="4434840"/>
          </a:xfrm>
          <a:prstGeom prst="rect">
            <a:avLst/>
          </a:prstGeom>
        </p:spPr>
      </p:pic>
      <p:sp>
        <p:nvSpPr>
          <p:cNvPr id="11" name="Marcador 3"/>
          <p:cNvSpPr/>
          <p:nvPr/>
        </p:nvSpPr>
        <p:spPr>
          <a:xfrm>
            <a:off x="5178704" y="180822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3"/>
          <p:cNvSpPr txBox="1"/>
          <p:nvPr/>
        </p:nvSpPr>
        <p:spPr>
          <a:xfrm>
            <a:off x="5178704" y="18082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Marcador 4"/>
          <p:cNvSpPr/>
          <p:nvPr/>
        </p:nvSpPr>
        <p:spPr>
          <a:xfrm>
            <a:off x="3515639" y="3892601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Número 4"/>
          <p:cNvSpPr txBox="1"/>
          <p:nvPr/>
        </p:nvSpPr>
        <p:spPr>
          <a:xfrm>
            <a:off x="3515639" y="389260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Legenda 1"/>
          <p:cNvSpPr/>
          <p:nvPr/>
        </p:nvSpPr>
        <p:spPr>
          <a:xfrm>
            <a:off x="5989320" y="13624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8932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373368" y="1325880"/>
            <a:ext cx="52852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autorizadas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seletor mostra só as obras de que a pessoa participa</a:t>
            </a:r>
            <a:endParaRPr lang="en-US" sz="1400" dirty="0"/>
          </a:p>
        </p:txBody>
      </p:sp>
      <p:sp>
        <p:nvSpPr>
          <p:cNvPr id="18" name="Legenda 2"/>
          <p:cNvSpPr/>
          <p:nvPr/>
        </p:nvSpPr>
        <p:spPr>
          <a:xfrm>
            <a:off x="5989320" y="22311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8932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373368" y="2194560"/>
            <a:ext cx="52852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NO CELULAR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com apenas o endereço (sem credenciais)</a:t>
            </a:r>
            <a:endParaRPr lang="en-US" sz="1400" dirty="0"/>
          </a:p>
        </p:txBody>
      </p:sp>
      <p:sp>
        <p:nvSpPr>
          <p:cNvPr id="21" name="Legenda 3"/>
          <p:cNvSpPr/>
          <p:nvPr/>
        </p:nvSpPr>
        <p:spPr>
          <a:xfrm>
            <a:off x="5989320" y="30998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98932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373368" y="3063240"/>
            <a:ext cx="52852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escaneia ainda precisa entrar com a própria conta</a:t>
            </a:r>
            <a:endParaRPr lang="en-US" sz="1400" dirty="0"/>
          </a:p>
        </p:txBody>
      </p:sp>
      <p:sp>
        <p:nvSpPr>
          <p:cNvPr id="24" name="Legenda 4"/>
          <p:cNvSpPr/>
          <p:nvPr/>
        </p:nvSpPr>
        <p:spPr>
          <a:xfrm>
            <a:off x="5989320" y="39684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8932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373368" y="3931920"/>
            <a:ext cx="52852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(Safari): Compartilhar → Adicionar à Tela de Início; Android (Chrome): menu → Instalar app</a:t>
            </a:r>
            <a:endParaRPr lang="en-US" sz="1400" dirty="0"/>
          </a:p>
        </p:txBody>
      </p:sp>
      <p:sp>
        <p:nvSpPr>
          <p:cNvPr id="27" name="Nota"/>
          <p:cNvSpPr/>
          <p:nvPr/>
        </p:nvSpPr>
        <p:spPr>
          <a:xfrm>
            <a:off x="5989320" y="489204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26480" y="4892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e câmera ainda não foram testadas em iPhone ou Android reais.</a:t>
            </a:r>
            <a:endParaRPr lang="en-US" sz="1300" dirty="0"/>
          </a:p>
        </p:txBody>
      </p:sp>
      <p:sp>
        <p:nvSpPr>
          <p:cNvPr id="29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real · dados simulados · Chrome em 390 px — instalação em aparelhos reais pendente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ocorrência ou inspeção</a:t>
            </a:r>
            <a:endParaRPr lang="en-US" sz="3000" dirty="0"/>
          </a:p>
        </p:txBody>
      </p:sp>
      <p:sp>
        <p:nvSpPr>
          <p:cNvPr id="3" name="Moldura ssma-home.png"/>
          <p:cNvSpPr/>
          <p:nvPr/>
        </p:nvSpPr>
        <p:spPr>
          <a:xfrm>
            <a:off x="740664" y="1197864"/>
            <a:ext cx="2382012" cy="4599432"/>
          </a:xfrm>
          <a:prstGeom prst="roundRect">
            <a:avLst>
              <a:gd name="adj" fmla="val 460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4" name="Celular ssma-home.png" descr="Início da o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2217420" cy="443484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841019" y="329389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841019" y="32938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oldura ssma-novo.png"/>
          <p:cNvSpPr/>
          <p:nvPr/>
        </p:nvSpPr>
        <p:spPr>
          <a:xfrm>
            <a:off x="3415284" y="1197864"/>
            <a:ext cx="2382012" cy="4599432"/>
          </a:xfrm>
          <a:prstGeom prst="roundRect">
            <a:avLst>
              <a:gd name="adj" fmla="val 460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Celular ssma-novo.png" descr="Novo regist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280160"/>
            <a:ext cx="2217420" cy="4434840"/>
          </a:xfrm>
          <a:prstGeom prst="rect">
            <a:avLst/>
          </a:prstGeom>
        </p:spPr>
      </p:pic>
      <p:sp>
        <p:nvSpPr>
          <p:cNvPr id="9" name="Marcador 2"/>
          <p:cNvSpPr/>
          <p:nvPr/>
        </p:nvSpPr>
        <p:spPr>
          <a:xfrm>
            <a:off x="3515639" y="165300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3515639" y="16530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Marcador 3"/>
          <p:cNvSpPr/>
          <p:nvPr/>
        </p:nvSpPr>
        <p:spPr>
          <a:xfrm>
            <a:off x="5422621" y="4823917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3"/>
          <p:cNvSpPr txBox="1"/>
          <p:nvPr/>
        </p:nvSpPr>
        <p:spPr>
          <a:xfrm>
            <a:off x="5422621" y="48239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Legenda 1"/>
          <p:cNvSpPr/>
          <p:nvPr/>
        </p:nvSpPr>
        <p:spPr>
          <a:xfrm>
            <a:off x="5989320" y="13624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8932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373368" y="1325880"/>
            <a:ext cx="528523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ocorrência / inspeção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sinal: fotos, responsável e prazo</a:t>
            </a:r>
            <a:endParaRPr lang="en-US" sz="1400" dirty="0"/>
          </a:p>
        </p:txBody>
      </p:sp>
      <p:sp>
        <p:nvSpPr>
          <p:cNvPr id="16" name="Legenda 2"/>
          <p:cNvSpPr/>
          <p:nvPr/>
        </p:nvSpPr>
        <p:spPr>
          <a:xfrm>
            <a:off x="5989320" y="23225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8932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373368" y="2286000"/>
            <a:ext cx="528523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categoria, descrição, local e data/hora do fato; o horário real de criação é guardado</a:t>
            </a:r>
            <a:endParaRPr lang="en-US" sz="1400" dirty="0"/>
          </a:p>
        </p:txBody>
      </p:sp>
      <p:sp>
        <p:nvSpPr>
          <p:cNvPr id="19" name="Legenda 3"/>
          <p:cNvSpPr/>
          <p:nvPr/>
        </p:nvSpPr>
        <p:spPr>
          <a:xfrm>
            <a:off x="5989320" y="32826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8932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373368" y="3246120"/>
            <a:ext cx="528523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Baixo, Médio, Alto ou Crítico, com responsável e prazo da ação corretiva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989320" y="43434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JPG ou PNG de até 15 MB, até 20 por registro. HEIC não é aceito (no iPhone, usar a câmera em "Mais compatível").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Salvo no aparelho → Aguardando envio → Sincronizado (ou Falha no envio, com nova tentativa).</a:t>
            </a:r>
            <a:endParaRPr lang="en-US" sz="1400" dirty="0"/>
          </a:p>
        </p:txBody>
      </p:sp>
      <p:sp>
        <p:nvSpPr>
          <p:cNvPr id="23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real · dados simulados · Chrome em 390 px — câmera em aparelhos reais pendente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corretiva: andamento e conclusão</a:t>
            </a:r>
            <a:endParaRPr lang="en-US" sz="3000" dirty="0"/>
          </a:p>
        </p:txBody>
      </p:sp>
      <p:sp>
        <p:nvSpPr>
          <p:cNvPr id="3" name="Moldura ssma-lista.png"/>
          <p:cNvSpPr/>
          <p:nvPr/>
        </p:nvSpPr>
        <p:spPr>
          <a:xfrm>
            <a:off x="740664" y="1197864"/>
            <a:ext cx="2382012" cy="4599432"/>
          </a:xfrm>
          <a:prstGeom prst="roundRect">
            <a:avLst>
              <a:gd name="adj" fmla="val 460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4" name="Celular ssma-lista.png" descr="Lista de regist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2217420" cy="443484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841019" y="291693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841019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oldura ssma-detalhe.png"/>
          <p:cNvSpPr/>
          <p:nvPr/>
        </p:nvSpPr>
        <p:spPr>
          <a:xfrm>
            <a:off x="3415284" y="1197864"/>
            <a:ext cx="2382012" cy="4599432"/>
          </a:xfrm>
          <a:prstGeom prst="roundRect">
            <a:avLst>
              <a:gd name="adj" fmla="val 460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Celular ssma-detalhe.png" descr="Detalhe e and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280160"/>
            <a:ext cx="2217420" cy="4434840"/>
          </a:xfrm>
          <a:prstGeom prst="rect">
            <a:avLst/>
          </a:prstGeom>
        </p:spPr>
      </p:pic>
      <p:sp>
        <p:nvSpPr>
          <p:cNvPr id="9" name="Marcador 2"/>
          <p:cNvSpPr/>
          <p:nvPr/>
        </p:nvSpPr>
        <p:spPr>
          <a:xfrm>
            <a:off x="3515639" y="273954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3515639" y="27395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Marcador 3"/>
          <p:cNvSpPr/>
          <p:nvPr/>
        </p:nvSpPr>
        <p:spPr>
          <a:xfrm>
            <a:off x="5422621" y="5356098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3"/>
          <p:cNvSpPr txBox="1"/>
          <p:nvPr/>
        </p:nvSpPr>
        <p:spPr>
          <a:xfrm>
            <a:off x="5422621" y="53560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Legenda 1"/>
          <p:cNvSpPr/>
          <p:nvPr/>
        </p:nvSpPr>
        <p:spPr>
          <a:xfrm>
            <a:off x="5989320" y="13624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8932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373368" y="1325880"/>
            <a:ext cx="528523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registros da obra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mostra risco, autoria e situação da ação corretiva (ex.: em atraso)</a:t>
            </a:r>
            <a:endParaRPr lang="en-US" sz="1400" dirty="0"/>
          </a:p>
        </p:txBody>
      </p:sp>
      <p:sp>
        <p:nvSpPr>
          <p:cNvPr id="16" name="Legenda 2"/>
          <p:cNvSpPr/>
          <p:nvPr/>
        </p:nvSpPr>
        <p:spPr>
          <a:xfrm>
            <a:off x="5989320" y="232257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8932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373368" y="2286000"/>
            <a:ext cx="528523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corretiva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responsável, prazo e histórico de andamentos</a:t>
            </a:r>
            <a:endParaRPr lang="en-US" sz="1400" dirty="0"/>
          </a:p>
        </p:txBody>
      </p:sp>
      <p:sp>
        <p:nvSpPr>
          <p:cNvPr id="19" name="Legenda 3"/>
          <p:cNvSpPr/>
          <p:nvPr/>
        </p:nvSpPr>
        <p:spPr>
          <a:xfrm>
            <a:off x="5989320" y="32826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8932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373368" y="3246120"/>
            <a:ext cx="528523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andamento / Concluir ação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pode: o responsável ou um gestor da obra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989320" y="4206240"/>
            <a:ext cx="5669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exige foto de evidência. Um gestor pode concluir com justificativa de pelo menos 10 caracteres.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concluído sem esse registro e todo andamento fica no histórico.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e conclusão exigem internet nesta versão.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versão publicada (44571fe) a ação corretiva ainda não aparece por um defeito já corrigido em branch, aguardando publicação (slide 23).</a:t>
            </a:r>
            <a:endParaRPr lang="en-US" sz="1300" dirty="0"/>
          </a:p>
        </p:txBody>
      </p:sp>
      <p:sp>
        <p:nvSpPr>
          <p:cNvPr id="23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real · dados simulados · Chrome em 390 px — fluxo testado com servidor simulado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internet e sem internet</a:t>
            </a:r>
            <a:endParaRPr lang="en-US" sz="3000" dirty="0"/>
          </a:p>
        </p:txBody>
      </p:sp>
      <p:graphicFrame>
        <p:nvGraphicFramePr>
          <p:cNvPr id="23" name="Tabela com e sem intern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sem sinal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internet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ocorrência ou inspeção, com fotos, responsável e prazo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Entrar no aplicativo e trocar de conta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o aviso "Sem conexão" e os registros ainda pendentes neste aparelho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a lista de registros enviados da obra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Envio automático quando o sinal volta (sem duplicar)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andamento e concluir ações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Manter os registros pendentes salvos no aparelho até o sinal voltar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o especialista de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oldura ssma-sem-sinal.png"/>
          <p:cNvSpPr/>
          <p:nvPr/>
        </p:nvSpPr>
        <p:spPr>
          <a:xfrm>
            <a:off x="7644384" y="1243584"/>
            <a:ext cx="1856232" cy="3547872"/>
          </a:xfrm>
          <a:prstGeom prst="roundRect">
            <a:avLst>
              <a:gd name="adj" fmla="val 591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5" name="Celular ssma-sem-sinal.png" descr="Aviso sem conex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325880"/>
            <a:ext cx="1691640" cy="3383280"/>
          </a:xfrm>
          <a:prstGeom prst="rect">
            <a:avLst/>
          </a:prstGeom>
        </p:spPr>
      </p:pic>
      <p:sp>
        <p:nvSpPr>
          <p:cNvPr id="6" name="Moldura ssma-fila.png"/>
          <p:cNvSpPr/>
          <p:nvPr/>
        </p:nvSpPr>
        <p:spPr>
          <a:xfrm>
            <a:off x="9701784" y="1243584"/>
            <a:ext cx="1856232" cy="3547872"/>
          </a:xfrm>
          <a:prstGeom prst="roundRect">
            <a:avLst>
              <a:gd name="adj" fmla="val 591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7" name="Celular ssma-fila.png" descr="Fila de registr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25880"/>
            <a:ext cx="1691640" cy="33832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72668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"Sem conexão" e fila com os estados dos registros.</a:t>
            </a:r>
            <a:endParaRPr lang="en-US" sz="1200" dirty="0"/>
          </a:p>
        </p:txBody>
      </p:sp>
      <p:sp>
        <p:nvSpPr>
          <p:cNvPr id="9" name="Nota"/>
          <p:cNvSpPr/>
          <p:nvPr/>
        </p:nvSpPr>
        <p:spPr>
          <a:xfrm>
            <a:off x="548640" y="5029200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" y="50292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abrir sem sinal, o app precisa ter sido aberto uma vez com internet; abrir o app autenticado sem rede ainda não foi testado. O iOS pode apagar dados de sites sem uso por semanas: sincronize assim que houver sinal.</a:t>
            </a:r>
            <a:endParaRPr lang="en-US" sz="1300" dirty="0"/>
          </a:p>
        </p:txBody>
      </p:sp>
      <p:sp>
        <p:nvSpPr>
          <p:cNvPr id="11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real · dados simulados · Chrome em 390 px — fila testada com IndexedDB e rede cortada no Chrome, não em celulares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registros SSMA no ACC</a:t>
            </a:r>
            <a:endParaRPr lang="en-US" sz="3000" dirty="0"/>
          </a:p>
        </p:txBody>
      </p:sp>
      <p:pic>
        <p:nvPicPr>
          <p:cNvPr id="3" name="Captura web-ssma-painel.png" descr="Painel de registros SS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290786" cy="3383280"/>
          </a:xfrm>
          <a:prstGeom prst="rect">
            <a:avLst/>
          </a:prstGeom>
        </p:spPr>
      </p:pic>
      <p:sp>
        <p:nvSpPr>
          <p:cNvPr id="4" name="Borda web-ssma-painel.png"/>
          <p:cNvSpPr/>
          <p:nvPr/>
        </p:nvSpPr>
        <p:spPr>
          <a:xfrm>
            <a:off x="548640" y="1280160"/>
            <a:ext cx="6290786" cy="338328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1336226" y="163019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1336226" y="1630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6513543" y="204295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6513543" y="2042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537296" y="3494380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537296" y="3494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4110462" y="352144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4110462" y="35214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Marcador 5"/>
          <p:cNvSpPr/>
          <p:nvPr/>
        </p:nvSpPr>
        <p:spPr>
          <a:xfrm>
            <a:off x="6092060" y="352144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Número 5"/>
          <p:cNvSpPr txBox="1"/>
          <p:nvPr/>
        </p:nvSpPr>
        <p:spPr>
          <a:xfrm>
            <a:off x="6092060" y="35214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Legenda 1"/>
          <p:cNvSpPr/>
          <p:nvPr/>
        </p:nvSpPr>
        <p:spPr>
          <a:xfrm>
            <a:off x="7635240" y="131673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3524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19288" y="1280160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app de campo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ao aplicativo do celular (/ssma)</a:t>
            </a:r>
            <a:endParaRPr lang="en-US" sz="1300" dirty="0"/>
          </a:p>
        </p:txBody>
      </p:sp>
      <p:sp>
        <p:nvSpPr>
          <p:cNvPr id="18" name="Legenda 2"/>
          <p:cNvSpPr/>
          <p:nvPr/>
        </p:nvSpPr>
        <p:spPr>
          <a:xfrm>
            <a:off x="7635240" y="2103120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352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019288" y="2066544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registros, ações em aberto e em atraso, críticos em aberto</a:t>
            </a:r>
            <a:endParaRPr lang="en-US" sz="1300" dirty="0"/>
          </a:p>
        </p:txBody>
      </p:sp>
      <p:sp>
        <p:nvSpPr>
          <p:cNvPr id="21" name="Legenda 3"/>
          <p:cNvSpPr/>
          <p:nvPr/>
        </p:nvSpPr>
        <p:spPr>
          <a:xfrm>
            <a:off x="7635240" y="2889504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3524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019288" y="2852928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fato, tipo e categoria, local, risco, quem registrou, responsável, prazo e fotos</a:t>
            </a:r>
            <a:endParaRPr lang="en-US" sz="1300" dirty="0"/>
          </a:p>
        </p:txBody>
      </p:sp>
      <p:sp>
        <p:nvSpPr>
          <p:cNvPr id="24" name="Legenda 4"/>
          <p:cNvSpPr/>
          <p:nvPr/>
        </p:nvSpPr>
        <p:spPr>
          <a:xfrm>
            <a:off x="7635240" y="3675888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352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019288" y="3639312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Baixo, Médio, Alto ou Crítico, como registrado em campo</a:t>
            </a:r>
            <a:endParaRPr lang="en-US" sz="1300" dirty="0"/>
          </a:p>
        </p:txBody>
      </p:sp>
      <p:sp>
        <p:nvSpPr>
          <p:cNvPr id="27" name="Legenda 5"/>
          <p:cNvSpPr/>
          <p:nvPr/>
        </p:nvSpPr>
        <p:spPr>
          <a:xfrm>
            <a:off x="7635240" y="4462272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63524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19288" y="4425696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corretiva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versão publicada mostra "Sem ação" por um defeito (veja o aviso)</a:t>
            </a:r>
            <a:endParaRPr lang="en-US" sz="1300" dirty="0"/>
          </a:p>
        </p:txBody>
      </p:sp>
      <p:sp>
        <p:nvSpPr>
          <p:cNvPr id="30" name="Nota"/>
          <p:cNvSpPr/>
          <p:nvPr/>
        </p:nvSpPr>
        <p:spPr>
          <a:xfrm>
            <a:off x="548640" y="48006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4800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 conhecido na versão publicada (44571fe): a ação corretiva não aparece na lista nem no detalhe, e o andamento não pode ser registrado pelo app. Correção pronta e testada em branch (fix/ssma-corrective-action-embed), ainda não publicada.</a:t>
            </a:r>
            <a:endParaRPr lang="en-US" sz="1300" dirty="0"/>
          </a:p>
        </p:txBody>
      </p:sp>
      <p:sp>
        <p:nvSpPr>
          <p:cNvPr id="32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e permissões</a:t>
            </a:r>
            <a:endParaRPr lang="en-US" sz="3000" dirty="0"/>
          </a:p>
        </p:txBody>
      </p:sp>
      <p:pic>
        <p:nvPicPr>
          <p:cNvPr id="3" name="Captura web-usuarios.png" descr="Usuários e permissõ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400800" cy="2796988"/>
          </a:xfrm>
          <a:prstGeom prst="rect">
            <a:avLst/>
          </a:prstGeom>
        </p:spPr>
      </p:pic>
      <p:sp>
        <p:nvSpPr>
          <p:cNvPr id="4" name="Borda web-usuarios.png"/>
          <p:cNvSpPr/>
          <p:nvPr/>
        </p:nvSpPr>
        <p:spPr>
          <a:xfrm>
            <a:off x="548640" y="1280160"/>
            <a:ext cx="6400800" cy="2796988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6709867" y="134158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6709867" y="13415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4552798" y="2068803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552798" y="20688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Marcador 3"/>
          <p:cNvSpPr/>
          <p:nvPr/>
        </p:nvSpPr>
        <p:spPr>
          <a:xfrm>
            <a:off x="4892040" y="2692531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Número 3"/>
          <p:cNvSpPr txBox="1"/>
          <p:nvPr/>
        </p:nvSpPr>
        <p:spPr>
          <a:xfrm>
            <a:off x="4892040" y="2692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Marcador 4"/>
          <p:cNvSpPr/>
          <p:nvPr/>
        </p:nvSpPr>
        <p:spPr>
          <a:xfrm>
            <a:off x="6056986" y="2513524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úmero 4"/>
          <p:cNvSpPr txBox="1"/>
          <p:nvPr/>
        </p:nvSpPr>
        <p:spPr>
          <a:xfrm>
            <a:off x="6056986" y="2513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Legenda 1"/>
          <p:cNvSpPr/>
          <p:nvPr/>
        </p:nvSpPr>
        <p:spPr>
          <a:xfrm>
            <a:off x="548640" y="42428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4206240"/>
            <a:ext cx="6016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usuário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quem administra a obra</a:t>
            </a:r>
            <a:endParaRPr lang="en-US" sz="1300" dirty="0"/>
          </a:p>
        </p:txBody>
      </p:sp>
      <p:sp>
        <p:nvSpPr>
          <p:cNvPr id="16" name="Legenda 2"/>
          <p:cNvSpPr/>
          <p:nvPr/>
        </p:nvSpPr>
        <p:spPr>
          <a:xfrm>
            <a:off x="548640" y="47000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4663440"/>
            <a:ext cx="6016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Administrador, Gerente, Colaborador (e perfis de gestão e leitura)</a:t>
            </a:r>
            <a:endParaRPr lang="en-US" sz="1300" dirty="0"/>
          </a:p>
        </p:txBody>
      </p:sp>
      <p:sp>
        <p:nvSpPr>
          <p:cNvPr id="19" name="Legenda 3"/>
          <p:cNvSpPr/>
          <p:nvPr/>
        </p:nvSpPr>
        <p:spPr>
          <a:xfrm>
            <a:off x="548640" y="51572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" y="5120640"/>
            <a:ext cx="6016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ou desativar o acesso</a:t>
            </a:r>
            <a:endParaRPr lang="en-US" sz="1300" dirty="0"/>
          </a:p>
        </p:txBody>
      </p:sp>
      <p:sp>
        <p:nvSpPr>
          <p:cNvPr id="22" name="Legenda 4"/>
          <p:cNvSpPr/>
          <p:nvPr/>
        </p:nvSpPr>
        <p:spPr>
          <a:xfrm>
            <a:off x="548640" y="561441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614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" y="5577840"/>
            <a:ext cx="6016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cargo —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cargo e permissão por pessoa</a:t>
            </a:r>
            <a:endParaRPr lang="en-US" sz="1300" dirty="0"/>
          </a:p>
        </p:txBody>
      </p:sp>
      <p:graphicFrame>
        <p:nvGraphicFramePr>
          <p:cNvPr id="25" name="Tabela de permissõ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280160"/>
          <a:ext cx="44348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pode (regra do sistema)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uma obra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Membros ativos da obra (isolamento no banco)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obra e gerir usuários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a classificação de risco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Gestor, gerente ou administrador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Concluir uma providência (RESOLVIDO)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Gestor, gerente ou administrador, com evidência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ocorrência no SSMA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Perfis de escrita; Leitura não registra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Concluir ação corretiva SSMA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ou gestor da obra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no ACC</a:t>
            </a:r>
            <a:endParaRPr lang="en-US" sz="3000" dirty="0"/>
          </a:p>
        </p:txBody>
      </p:sp>
      <p:pic>
        <p:nvPicPr>
          <p:cNvPr id="3" name="Captura web-ajuda.png" descr="Ajuda context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843016" cy="2596896"/>
          </a:xfrm>
          <a:prstGeom prst="rect">
            <a:avLst/>
          </a:prstGeom>
        </p:spPr>
      </p:pic>
      <p:sp>
        <p:nvSpPr>
          <p:cNvPr id="4" name="Borda web-ajuda.png"/>
          <p:cNvSpPr/>
          <p:nvPr/>
        </p:nvSpPr>
        <p:spPr>
          <a:xfrm>
            <a:off x="548640" y="1280160"/>
            <a:ext cx="5843016" cy="2596896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1515810" y="2036332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1515810" y="20363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2684413" y="2685556"/>
            <a:ext cx="274320" cy="274320"/>
          </a:xfrm>
          <a:prstGeom prst="ellipse">
            <a:avLst/>
          </a:prstGeom>
          <a:solidFill>
            <a:srgbClr val="7F1D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2684413" y="26855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Legenda 1"/>
          <p:cNvSpPr/>
          <p:nvPr/>
        </p:nvSpPr>
        <p:spPr>
          <a:xfrm>
            <a:off x="548640" y="410565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4069080"/>
            <a:ext cx="54681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ⓘ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lado de abas, botões e campos; passe o mouse para a dica curta</a:t>
            </a:r>
            <a:endParaRPr lang="en-US" sz="1400" dirty="0"/>
          </a:p>
        </p:txBody>
      </p:sp>
      <p:sp>
        <p:nvSpPr>
          <p:cNvPr id="12" name="Legenda 2"/>
          <p:cNvSpPr/>
          <p:nvPr/>
        </p:nvSpPr>
        <p:spPr>
          <a:xfrm>
            <a:off x="548640" y="4882896"/>
            <a:ext cx="274320" cy="27432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4846320"/>
            <a:ext cx="54681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completa —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ou toque para abrir; o texto vem de uma fonte única e vale para toda a suíte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permanente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(PDF para consulta e PowerPoint editável) está preparado como a entrada "Ajuda e tutorial" no menu da obra.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só para usuários autenticados com acesso à obra; os arquivos não ficam em área pública.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entrada entra em produção junto com a próxima publicação aprovada; até lá o material é distribuído pelo PDF e pelo PowerPoint.</a:t>
            </a:r>
            <a:endParaRPr lang="en-US" sz="1500" dirty="0"/>
          </a:p>
        </p:txBody>
      </p:sp>
      <p:sp>
        <p:nvSpPr>
          <p:cNvPr id="17" name="Procedência"/>
          <p:cNvSpPr/>
          <p:nvPr/>
        </p:nvSpPr>
        <p:spPr>
          <a:xfrm>
            <a:off x="548640" y="5961888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596188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da main (44571fe) · dados fictícios · ambiente local, desktop 1440 px — não é a produção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verificado e o que falta</a:t>
            </a:r>
            <a:endParaRPr lang="en-US" sz="3000" dirty="0"/>
          </a:p>
        </p:txBody>
      </p:sp>
      <p:graphicFrame>
        <p:nvGraphicFramePr>
          <p:cNvPr id="27" name="Tabela de validaç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depende de teste real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</a:tr>
              <a:tr h="2743200">
                <a:tc>
                  <a:txBody>
                    <a:bodyPr/>
                    <a:lstStyle/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publicado na main (44571fe); deploy de produção READY em acc.axion.com.br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Banco: 117 versões de migration e 9 tabelas novas com RLS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 públicas e redirecionamento ao login em produção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Suítes automatizadas (alertas, e-mail, SQL, SSMA) com serviços simulados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Telas e e-mails deste material, com dados fictícios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Telas autenticadas na produção e acesso a partir de outro computador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E-mails em Gmail, Outlook e celulares reais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SSMA em iPhone e Android reais (instalação, câmera, sem sinal)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de IA com provedor real e seu custo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de envio em produção (piloto × real) e Gmail Inbound Sync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não apresenta como comprovado nenhum fluxo da coluna da direita.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cinco minutos</a:t>
            </a:r>
            <a:endParaRPr lang="en-US" sz="3000" dirty="0"/>
          </a:p>
        </p:txBody>
      </p:sp>
      <p:sp>
        <p:nvSpPr>
          <p:cNvPr id="3" name="Passo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3716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Entre.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acc.axion.com.br com a sua conta autorizada.</a:t>
            </a:r>
            <a:endParaRPr lang="en-US" sz="1800" dirty="0"/>
          </a:p>
        </p:txBody>
      </p:sp>
      <p:sp>
        <p:nvSpPr>
          <p:cNvPr id="6" name="Passo 2"/>
          <p:cNvSpPr/>
          <p:nvPr/>
        </p:nvSpPr>
        <p:spPr>
          <a:xfrm>
            <a:off x="548640" y="2313432"/>
            <a:ext cx="640080" cy="64008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6771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obra.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a obra; você só vê as obras de que participa.</a:t>
            </a:r>
            <a:endParaRPr lang="en-US" sz="1800" dirty="0"/>
          </a:p>
        </p:txBody>
      </p:sp>
      <p:sp>
        <p:nvSpPr>
          <p:cNvPr id="9" name="Passo 3"/>
          <p:cNvSpPr/>
          <p:nvPr/>
        </p:nvSpPr>
        <p:spPr>
          <a:xfrm>
            <a:off x="548640" y="3209544"/>
            <a:ext cx="640080" cy="64008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9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63824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os alertas.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cada alerta com RESOLVIDO, EM ANDAMENTO ou ENVIADO P/.</a:t>
            </a:r>
            <a:endParaRPr lang="en-US" sz="1800" dirty="0"/>
          </a:p>
        </p:txBody>
      </p:sp>
      <p:sp>
        <p:nvSpPr>
          <p:cNvPr id="12" name="Passo 4"/>
          <p:cNvSpPr/>
          <p:nvPr/>
        </p:nvSpPr>
        <p:spPr>
          <a:xfrm>
            <a:off x="548640" y="4105656"/>
            <a:ext cx="640080" cy="64008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05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5993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providências.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prazos, responsáveis e o CNO na tabela de providências.</a:t>
            </a:r>
            <a:endParaRPr lang="en-US" sz="1800" dirty="0"/>
          </a:p>
        </p:txBody>
      </p:sp>
      <p:sp>
        <p:nvSpPr>
          <p:cNvPr id="15" name="Passo 5"/>
          <p:cNvSpPr/>
          <p:nvPr/>
        </p:nvSpPr>
        <p:spPr>
          <a:xfrm>
            <a:off x="548640" y="5001768"/>
            <a:ext cx="640080" cy="64008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01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95604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o SSMA.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celular, escaneie o QR Code de /ssma e adicione à tela inicial.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Dúvidas: consulte este material; o slide 25 mostra onde encontrar a ajuda do ACC.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1D1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 AXION">
  <a:themeElements>
    <a:clrScheme name="ACC AXION">
      <a:dk1>
        <a:srgbClr val="1F2937"/>
      </a:dk1>
      <a:lt1>
        <a:srgbClr val="FFFFFF"/>
      </a:lt1>
      <a:dk2>
        <a:srgbClr val="7F1D1D"/>
      </a:dk2>
      <a:lt2>
        <a:srgbClr val="F3F4F6"/>
      </a:lt2>
      <a:accent1>
        <a:srgbClr val="7F1D1D"/>
      </a:accent1>
      <a:accent2>
        <a:srgbClr val="CC0000"/>
      </a:accent2>
      <a:accent3>
        <a:srgbClr val="FFC700"/>
      </a:accent3>
      <a:accent4>
        <a:srgbClr val="15803D"/>
      </a:accent4>
      <a:accent5>
        <a:srgbClr val="1E2D4F"/>
      </a:accent5>
      <a:accent6>
        <a:srgbClr val="F97316"/>
      </a:accent6>
      <a:hlink>
        <a:srgbClr val="7F1D1D"/>
      </a:hlink>
      <a:folHlink>
        <a:srgbClr val="5B1212"/>
      </a:folHlink>
    </a:clrScheme>
    <a:fontScheme name="ACC AX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AXION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 — AXION Contract Intelligence: apresentação e tutorial</dc:title>
  <dc:subject>PptxGenJS Presentation</dc:subject>
  <dc:creator>AXION Engenharia</dc:creator>
  <cp:lastModifiedBy>AXION Engenharia</cp:lastModifiedBy>
  <cp:revision>1</cp:revision>
  <dcterms:created xsi:type="dcterms:W3CDTF">2026-10-27T04:40:08Z</dcterms:created>
  <dcterms:modified xsi:type="dcterms:W3CDTF">2026-10-27T04:40:08Z</dcterms:modified>
</cp:coreProperties>
</file>